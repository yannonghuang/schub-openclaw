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62" r:id="rId4"/>
    <p:sldId id="257" r:id="rId5"/>
    <p:sldId id="259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1"/>
    <p:restoredTop sz="94694"/>
  </p:normalViewPr>
  <p:slideViewPr>
    <p:cSldViewPr snapToGrid="0">
      <p:cViewPr varScale="1">
        <p:scale>
          <a:sx n="101" d="100"/>
          <a:sy n="101" d="100"/>
        </p:scale>
        <p:origin x="21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00FBA-AC49-2849-BDEC-7B1E86DFA38B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ABA56-C4F8-2043-8278-01E9F67A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ABA56-C4F8-2043-8278-01E9F67ADA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6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DB36-8FC0-9FCF-CB13-AAE705D0F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8D691-A30A-E638-A038-3922C62C2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B2FE7-2217-1F58-C94F-6F2D1B5E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2D34-413E-19FB-9978-93917BA0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A567E-D00C-A761-5712-1D980656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998D-111A-B5B7-F6F3-7525678A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D943-5554-0ADE-126D-7132D11B1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6CB1-37C2-96E0-561D-12D93455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B8175-2312-86BC-FE19-402ED6CB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36C64-B539-1919-716A-FD85E1C2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4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C2ED-DB58-EDE2-7091-13D0C6B2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F5D10-7AC1-D548-CD58-2153FDFF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A491-3F10-1643-7C85-9404B0D5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9CFBC-D74D-214C-A8D9-0614C376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0CAF-3776-C459-5501-19C6F943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8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A2EE-7F33-82F2-2EAC-2A23A078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9085-A48F-47DE-7F72-DA581AA95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8CB76-9E39-1E56-0EA9-3C07B104E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77B1-AD63-BC11-7406-0F86B151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C52A6-ACE5-A5A1-6E16-DBC15586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7364-48B7-ED2A-A6F7-90C284E9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9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2F8C-818F-1023-A9AB-6AC744D7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4A30E-29D5-3DE9-E319-DB068A26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7261F-8C32-D403-13BE-ADB740A1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0143F-9390-8DA9-BAFF-A5F8DB2EF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AC672-7D05-7CFF-3968-3DFDB3CD9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E750B-449E-AC4D-F9B9-15BC0FD2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CE054-7774-87B4-3D35-4894D667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FE8CE-284E-2FE9-9287-22F96AF9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A319-1D35-C384-1C18-058F4062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F807F-F585-89BE-4C12-ADFBC594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4C568-792E-8ED2-A5F6-619447BF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9D50A-BDBB-8351-CBC9-EE787F0D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8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FF281-7CB7-55FA-E76C-4D2DA34F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CC557-0E86-4735-C55C-073B5D6A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FC31B-7E02-B11E-EA89-C0C02656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9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65FE-A723-DD31-4C99-ED701811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D4E15-566A-966C-E0D8-0693A3680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34C0C-6831-ADD8-5CED-6A2F87929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FA168-EDEF-AFBD-BBB3-406DFCF9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B99E8-B0A8-2282-C3E2-C766BC5D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D34AB-63E9-54C8-27C8-2E8AD249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9E61-2E8D-743E-3756-915DC46C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5F9AF-ABA2-1783-002E-13263AAF2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AE5ED-BFD7-7ABA-CA83-4D5CFAF11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902A2-D4D5-0863-0DB2-1CFB5F86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A1567-020B-BC7E-848A-4B6FD3AF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3C0E0-D4DC-DDBE-072D-13339CC1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3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8045-D857-B343-2F3B-72FB84E1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C43B5-26FD-1196-4903-EB976F80C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B689-75BD-ADBB-169D-16EA1F60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E5F8B-EEEC-9C19-9BFE-3838D6F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FADB0-2893-0096-F65D-9D0B4DF3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2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8A15F-6FFA-47CA-4185-B2B4C810B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82C73-DE80-394F-2F36-B10780834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26F57-0988-A031-8848-80074BFF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740D-B5E8-E480-B230-1E841E17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812FF-E4E6-3FEE-3B87-0049D3BC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3BD49-DE3A-16A6-B564-27337C79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BC37-F911-3C34-F0A4-4DBB72E10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AA897-ADBD-678E-B3FE-775C6EAC3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C01E6-7D67-744B-A9B5-351F18CCB29F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64BFD-8277-0521-DB9E-FEA0110D8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EC05-4FA1-0785-586C-127851E37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0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12E8-C326-6AF6-A37F-16EE3780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B689-C729-504C-642B-97A6B984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Propositions – global supply chain information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5C4C6-F33E-8F69-43AD-22495AC0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u="sng" dirty="0"/>
              <a:t>N</a:t>
            </a:r>
            <a:r>
              <a:rPr lang="en-US" dirty="0"/>
              <a:t>eeds: currently most businesses solve supply chain problems (demand planning, manufacturing, sourcing, distribution, logistics, etc.) in isolation with limited or no visibility into global and/or upstream-/down-stream events, while the latter (such as tariffs on demand, port closure on delivery) can have impacts directly or indirectly thru propagation. </a:t>
            </a:r>
          </a:p>
          <a:p>
            <a:r>
              <a:rPr lang="en-US" sz="3100" b="1" u="sng" dirty="0"/>
              <a:t>A</a:t>
            </a:r>
            <a:r>
              <a:rPr lang="en-US" dirty="0"/>
              <a:t>pproach</a:t>
            </a:r>
          </a:p>
          <a:p>
            <a:pPr lvl="1"/>
            <a:r>
              <a:rPr lang="en-US" dirty="0"/>
              <a:t>Pub-Sub architecture accommodating complex many-to-many trading relationships.</a:t>
            </a:r>
          </a:p>
          <a:p>
            <a:pPr lvl="1"/>
            <a:r>
              <a:rPr lang="en-US" dirty="0"/>
              <a:t>LLM-powered intelligence extraction from global, local, partner sources.</a:t>
            </a:r>
          </a:p>
          <a:p>
            <a:pPr lvl="1"/>
            <a:r>
              <a:rPr lang="en-US" dirty="0"/>
              <a:t>Cloud-deployed minimizing local footprint accommodating businesses of any sizes.</a:t>
            </a:r>
          </a:p>
          <a:p>
            <a:pPr lvl="1"/>
            <a:r>
              <a:rPr lang="en-US" dirty="0"/>
              <a:t>Open architecture for further extensibility 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On-boarding new trading partners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Plugging-in new data sources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Adding new tools (e.g., LLM-based causality analyzer)</a:t>
            </a:r>
          </a:p>
          <a:p>
            <a:r>
              <a:rPr lang="en-US" sz="3100" b="1" u="sng" dirty="0"/>
              <a:t>B</a:t>
            </a:r>
            <a:r>
              <a:rPr lang="en-US" dirty="0"/>
              <a:t>enefit: horizontal and vertical visibility ensures supply chain resilience.</a:t>
            </a:r>
          </a:p>
          <a:p>
            <a:r>
              <a:rPr lang="en-US" sz="3100" b="1" u="sng" dirty="0"/>
              <a:t>C</a:t>
            </a:r>
            <a:r>
              <a:rPr lang="en-US" dirty="0"/>
              <a:t>ompetitive analysis: alternative approach suffers in </a:t>
            </a:r>
            <a:r>
              <a:rPr lang="en-US"/>
              <a:t>lack of openness </a:t>
            </a:r>
            <a:r>
              <a:rPr lang="en-US" dirty="0"/>
              <a:t>due to point-to-point architecture and vendor lock-in.</a:t>
            </a:r>
          </a:p>
        </p:txBody>
      </p:sp>
    </p:spTree>
    <p:extLst>
      <p:ext uri="{BB962C8B-B14F-4D97-AF65-F5344CB8AC3E}">
        <p14:creationId xmlns:p14="http://schemas.microsoft.com/office/powerpoint/2010/main" val="18743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DE9592C4-0B9F-DD3D-4D58-D069967290C5}"/>
              </a:ext>
            </a:extLst>
          </p:cNvPr>
          <p:cNvSpPr/>
          <p:nvPr/>
        </p:nvSpPr>
        <p:spPr>
          <a:xfrm>
            <a:off x="1026084" y="1807779"/>
            <a:ext cx="11060814" cy="34571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4F3C1-25AA-98A2-40CE-E55332E6A4DA}"/>
              </a:ext>
            </a:extLst>
          </p:cNvPr>
          <p:cNvSpPr/>
          <p:nvPr/>
        </p:nvSpPr>
        <p:spPr>
          <a:xfrm>
            <a:off x="1123816" y="1921805"/>
            <a:ext cx="6110109" cy="203683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4F3896-1178-FFDF-CFE7-0F813FC7A6E6}"/>
              </a:ext>
            </a:extLst>
          </p:cNvPr>
          <p:cNvSpPr/>
          <p:nvPr/>
        </p:nvSpPr>
        <p:spPr>
          <a:xfrm>
            <a:off x="1171279" y="2016101"/>
            <a:ext cx="5910245" cy="7282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033BE68-6343-9577-A458-3F62EAC10D1F}"/>
              </a:ext>
            </a:extLst>
          </p:cNvPr>
          <p:cNvSpPr/>
          <p:nvPr/>
        </p:nvSpPr>
        <p:spPr>
          <a:xfrm>
            <a:off x="1123816" y="4190765"/>
            <a:ext cx="10888929" cy="91073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8707A-03DD-D8AF-AF54-0A9A0D5B3D78}"/>
              </a:ext>
            </a:extLst>
          </p:cNvPr>
          <p:cNvSpPr txBox="1"/>
          <p:nvPr/>
        </p:nvSpPr>
        <p:spPr>
          <a:xfrm>
            <a:off x="49016" y="1153829"/>
            <a:ext cx="2480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Common Raw Data Ingestion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F3743-775F-043B-135D-AE95C2695639}"/>
              </a:ext>
            </a:extLst>
          </p:cNvPr>
          <p:cNvSpPr txBox="1"/>
          <p:nvPr/>
        </p:nvSpPr>
        <p:spPr>
          <a:xfrm>
            <a:off x="49016" y="2310422"/>
            <a:ext cx="7523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C5048-3C2B-C5C4-392C-8EDB38D13A27}"/>
              </a:ext>
            </a:extLst>
          </p:cNvPr>
          <p:cNvSpPr/>
          <p:nvPr/>
        </p:nvSpPr>
        <p:spPr>
          <a:xfrm>
            <a:off x="2304983" y="2122322"/>
            <a:ext cx="1102154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NLP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7A81E-8B79-BE8A-E557-F91F86EFF64C}"/>
              </a:ext>
            </a:extLst>
          </p:cNvPr>
          <p:cNvSpPr txBox="1"/>
          <p:nvPr/>
        </p:nvSpPr>
        <p:spPr>
          <a:xfrm>
            <a:off x="1229250" y="2149307"/>
            <a:ext cx="821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LLM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97BA9-F1FA-C156-D0E5-1FF54C0CA310}"/>
              </a:ext>
            </a:extLst>
          </p:cNvPr>
          <p:cNvSpPr/>
          <p:nvPr/>
        </p:nvSpPr>
        <p:spPr>
          <a:xfrm>
            <a:off x="3661569" y="2118959"/>
            <a:ext cx="1479063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Pattern Recognition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1AC1B-1806-A195-C6F6-B953E1FFBBB3}"/>
              </a:ext>
            </a:extLst>
          </p:cNvPr>
          <p:cNvSpPr/>
          <p:nvPr/>
        </p:nvSpPr>
        <p:spPr>
          <a:xfrm>
            <a:off x="5395064" y="2118958"/>
            <a:ext cx="1562678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Detection Classification</a:t>
            </a:r>
          </a:p>
        </p:txBody>
      </p:sp>
      <p:sp>
        <p:nvSpPr>
          <p:cNvPr id="30" name="Folded Corner 29">
            <a:extLst>
              <a:ext uri="{FF2B5EF4-FFF2-40B4-BE49-F238E27FC236}">
                <a16:creationId xmlns:a16="http://schemas.microsoft.com/office/drawing/2014/main" id="{0129C420-5057-EF96-61CF-7C986D4FC3B9}"/>
              </a:ext>
            </a:extLst>
          </p:cNvPr>
          <p:cNvSpPr/>
          <p:nvPr/>
        </p:nvSpPr>
        <p:spPr>
          <a:xfrm>
            <a:off x="6815072" y="1051758"/>
            <a:ext cx="1455848" cy="417813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97A7158B-0D5C-4AFB-3A85-C26927202253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6962104" y="2057937"/>
            <a:ext cx="2828256" cy="1679318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6053539-9667-FB41-29FA-70E117C65346}"/>
              </a:ext>
            </a:extLst>
          </p:cNvPr>
          <p:cNvSpPr txBox="1"/>
          <p:nvPr/>
        </p:nvSpPr>
        <p:spPr>
          <a:xfrm>
            <a:off x="6808649" y="1114136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social media</a:t>
            </a:r>
          </a:p>
        </p:txBody>
      </p:sp>
      <p:sp>
        <p:nvSpPr>
          <p:cNvPr id="35" name="Folded Corner 34">
            <a:extLst>
              <a:ext uri="{FF2B5EF4-FFF2-40B4-BE49-F238E27FC236}">
                <a16:creationId xmlns:a16="http://schemas.microsoft.com/office/drawing/2014/main" id="{83811455-37C1-40E5-11E4-9A18A237424F}"/>
              </a:ext>
            </a:extLst>
          </p:cNvPr>
          <p:cNvSpPr/>
          <p:nvPr/>
        </p:nvSpPr>
        <p:spPr>
          <a:xfrm>
            <a:off x="8500056" y="1051127"/>
            <a:ext cx="1455848" cy="41781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05C0EF55-0D8C-D83A-7572-590BAF88F8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00439" y="2454257"/>
            <a:ext cx="2832882" cy="891307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D34E1E-5BA9-8742-C772-F9A9ACB3C976}"/>
              </a:ext>
            </a:extLst>
          </p:cNvPr>
          <p:cNvSpPr txBox="1"/>
          <p:nvPr/>
        </p:nvSpPr>
        <p:spPr>
          <a:xfrm>
            <a:off x="8532830" y="1107172"/>
            <a:ext cx="1374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gov. bulletin</a:t>
            </a:r>
          </a:p>
        </p:txBody>
      </p:sp>
      <p:sp>
        <p:nvSpPr>
          <p:cNvPr id="40" name="Folded Corner 39">
            <a:extLst>
              <a:ext uri="{FF2B5EF4-FFF2-40B4-BE49-F238E27FC236}">
                <a16:creationId xmlns:a16="http://schemas.microsoft.com/office/drawing/2014/main" id="{259A8879-B511-6EFA-8F13-9AB3B67D511E}"/>
              </a:ext>
            </a:extLst>
          </p:cNvPr>
          <p:cNvSpPr/>
          <p:nvPr/>
        </p:nvSpPr>
        <p:spPr>
          <a:xfrm>
            <a:off x="10919387" y="1051127"/>
            <a:ext cx="1093359" cy="41781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09FE5093-F6EA-2380-50C0-1E4FCAF73A19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>
            <a:off x="10003312" y="2855093"/>
            <a:ext cx="2866707" cy="47181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316EEF-A44E-B3A4-7341-8FF54F9A1D7B}"/>
              </a:ext>
            </a:extLst>
          </p:cNvPr>
          <p:cNvSpPr txBox="1"/>
          <p:nvPr/>
        </p:nvSpPr>
        <p:spPr>
          <a:xfrm>
            <a:off x="10963709" y="1075998"/>
            <a:ext cx="9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weather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C8E493-F153-4D51-63DD-407022F780CD}"/>
              </a:ext>
            </a:extLst>
          </p:cNvPr>
          <p:cNvSpPr txBox="1"/>
          <p:nvPr/>
        </p:nvSpPr>
        <p:spPr>
          <a:xfrm>
            <a:off x="10362535" y="1077847"/>
            <a:ext cx="3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3EA4F-4542-1176-D878-DC2A7DB340E9}"/>
              </a:ext>
            </a:extLst>
          </p:cNvPr>
          <p:cNvSpPr txBox="1"/>
          <p:nvPr/>
        </p:nvSpPr>
        <p:spPr>
          <a:xfrm>
            <a:off x="38673" y="3167390"/>
            <a:ext cx="1011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Impacting Events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636965-316B-B89B-DECF-99B3A0ED45AD}"/>
              </a:ext>
            </a:extLst>
          </p:cNvPr>
          <p:cNvSpPr/>
          <p:nvPr/>
        </p:nvSpPr>
        <p:spPr>
          <a:xfrm>
            <a:off x="1171280" y="2903328"/>
            <a:ext cx="5910245" cy="9463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56821F-72BA-3F5F-84A0-CD9A23CBB4E6}"/>
              </a:ext>
            </a:extLst>
          </p:cNvPr>
          <p:cNvSpPr txBox="1"/>
          <p:nvPr/>
        </p:nvSpPr>
        <p:spPr>
          <a:xfrm>
            <a:off x="1139872" y="3228100"/>
            <a:ext cx="5108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Typhon, Location: Shanghai, Impact : raw supply delayed 10 days}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1D3290-4D34-1196-C00B-054C362A580E}"/>
              </a:ext>
            </a:extLst>
          </p:cNvPr>
          <p:cNvSpPr txBox="1"/>
          <p:nvPr/>
        </p:nvSpPr>
        <p:spPr>
          <a:xfrm>
            <a:off x="1139872" y="2954701"/>
            <a:ext cx="4417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Tariff, Product: TR-S900, Impact: demand slashed 50%}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B6D909-843C-1BF0-9BE7-4F9A0D8FA6BC}"/>
              </a:ext>
            </a:extLst>
          </p:cNvPr>
          <p:cNvSpPr txBox="1"/>
          <p:nvPr/>
        </p:nvSpPr>
        <p:spPr>
          <a:xfrm>
            <a:off x="1123816" y="3499945"/>
            <a:ext cx="5789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Supplier, Product: UV-K100, Location: TW, Impact : delivery delayed 20 days}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799AAA-DB4B-1DE9-E0F4-27498E89E5CD}"/>
              </a:ext>
            </a:extLst>
          </p:cNvPr>
          <p:cNvSpPr/>
          <p:nvPr/>
        </p:nvSpPr>
        <p:spPr>
          <a:xfrm>
            <a:off x="3833686" y="4322480"/>
            <a:ext cx="8123116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38353-B573-72B6-5C69-62E75AC1BA57}"/>
              </a:ext>
            </a:extLst>
          </p:cNvPr>
          <p:cNvSpPr txBox="1"/>
          <p:nvPr/>
        </p:nvSpPr>
        <p:spPr>
          <a:xfrm>
            <a:off x="44540" y="4480675"/>
            <a:ext cx="9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Pub-Sub Channels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3AD8F-7D2B-4AC3-6ACB-78DA33A68B70}"/>
              </a:ext>
            </a:extLst>
          </p:cNvPr>
          <p:cNvSpPr txBox="1"/>
          <p:nvPr/>
        </p:nvSpPr>
        <p:spPr>
          <a:xfrm>
            <a:off x="2350676" y="4203676"/>
            <a:ext cx="1539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Common inbound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82741E-CA2E-31E8-D284-F2354B839C5F}"/>
              </a:ext>
            </a:extLst>
          </p:cNvPr>
          <p:cNvSpPr/>
          <p:nvPr/>
        </p:nvSpPr>
        <p:spPr>
          <a:xfrm>
            <a:off x="3829524" y="4589656"/>
            <a:ext cx="8123115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CDD236-026F-6BD9-C1D9-78FFBDE77C9D}"/>
              </a:ext>
            </a:extLst>
          </p:cNvPr>
          <p:cNvSpPr txBox="1"/>
          <p:nvPr/>
        </p:nvSpPr>
        <p:spPr>
          <a:xfrm>
            <a:off x="2246937" y="4468843"/>
            <a:ext cx="1539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Common outbound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4584BC-82A0-B07E-8E6A-8A1E863861A1}"/>
              </a:ext>
            </a:extLst>
          </p:cNvPr>
          <p:cNvCxnSpPr>
            <a:cxnSpLocks/>
          </p:cNvCxnSpPr>
          <p:nvPr/>
        </p:nvCxnSpPr>
        <p:spPr>
          <a:xfrm flipV="1">
            <a:off x="5896305" y="3980448"/>
            <a:ext cx="0" cy="32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89EF3CA0-C6D8-CED5-4A43-2B70F086EFE5}"/>
              </a:ext>
            </a:extLst>
          </p:cNvPr>
          <p:cNvSpPr/>
          <p:nvPr/>
        </p:nvSpPr>
        <p:spPr>
          <a:xfrm>
            <a:off x="3829524" y="4908680"/>
            <a:ext cx="8123115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A557D5-B9D9-A304-F6AD-304E13B9437C}"/>
              </a:ext>
            </a:extLst>
          </p:cNvPr>
          <p:cNvSpPr txBox="1"/>
          <p:nvPr/>
        </p:nvSpPr>
        <p:spPr>
          <a:xfrm>
            <a:off x="1245051" y="4781065"/>
            <a:ext cx="248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Trading Partner X: demand updates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1C4F4F-5054-ABCF-9861-AE6654AC1151}"/>
              </a:ext>
            </a:extLst>
          </p:cNvPr>
          <p:cNvSpPr/>
          <p:nvPr/>
        </p:nvSpPr>
        <p:spPr>
          <a:xfrm>
            <a:off x="4190087" y="5780153"/>
            <a:ext cx="162009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Partner X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3AE8CCE7-1BA7-193E-8134-8F57CDB4F95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58848" y="5283209"/>
            <a:ext cx="823074" cy="14049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12DD381-7974-0312-FCB2-ED88F6E76D66}"/>
              </a:ext>
            </a:extLst>
          </p:cNvPr>
          <p:cNvSpPr/>
          <p:nvPr/>
        </p:nvSpPr>
        <p:spPr>
          <a:xfrm>
            <a:off x="6912736" y="5780153"/>
            <a:ext cx="162009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Partner Y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BEE685F-25F8-F311-2874-36EBC9B636EB}"/>
              </a:ext>
            </a:extLst>
          </p:cNvPr>
          <p:cNvSpPr/>
          <p:nvPr/>
        </p:nvSpPr>
        <p:spPr>
          <a:xfrm>
            <a:off x="9955904" y="5780153"/>
            <a:ext cx="162009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Partner Z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CA3D1E5-64AB-846E-3CFA-0771DF530D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43660" y="5085870"/>
            <a:ext cx="793010" cy="5652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B44A70B2-C792-087B-B502-757A209B3A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70776" y="5169818"/>
            <a:ext cx="814886" cy="37546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3E524AE1-E38B-B831-4B5B-06ED474A0C4F}"/>
              </a:ext>
            </a:extLst>
          </p:cNvPr>
          <p:cNvCxnSpPr>
            <a:cxnSpLocks/>
            <a:endCxn id="59" idx="7"/>
          </p:cNvCxnSpPr>
          <p:nvPr/>
        </p:nvCxnSpPr>
        <p:spPr>
          <a:xfrm rot="16200000" flipH="1">
            <a:off x="4888528" y="5229668"/>
            <a:ext cx="1247224" cy="12156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9DC8231-0801-7733-2340-8CD58C6601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26646" y="5115216"/>
            <a:ext cx="1210427" cy="25074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1FC1A5D1-930C-D7E6-D3E2-7593E7CE2D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35329" y="5098215"/>
            <a:ext cx="1210427" cy="25074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CB64900-46E9-288A-936A-807A4D708199}"/>
              </a:ext>
            </a:extLst>
          </p:cNvPr>
          <p:cNvSpPr txBox="1"/>
          <p:nvPr/>
        </p:nvSpPr>
        <p:spPr>
          <a:xfrm>
            <a:off x="4081228" y="137358"/>
            <a:ext cx="5391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Global Supply Chain Information Hub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772919D-B446-CBB2-3837-C4F1FF0DF9ED}"/>
              </a:ext>
            </a:extLst>
          </p:cNvPr>
          <p:cNvCxnSpPr>
            <a:cxnSpLocks/>
          </p:cNvCxnSpPr>
          <p:nvPr/>
        </p:nvCxnSpPr>
        <p:spPr>
          <a:xfrm>
            <a:off x="6353710" y="3980448"/>
            <a:ext cx="0" cy="586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28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DCDF-B912-D999-ED6D-647E2034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9418AD9E-E87C-F176-3FFE-BB680729ECCE}"/>
              </a:ext>
            </a:extLst>
          </p:cNvPr>
          <p:cNvSpPr/>
          <p:nvPr/>
        </p:nvSpPr>
        <p:spPr>
          <a:xfrm>
            <a:off x="2695172" y="5549000"/>
            <a:ext cx="6392219" cy="130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19510B6-D06D-408D-F800-CFF2BC5B55EF}"/>
              </a:ext>
            </a:extLst>
          </p:cNvPr>
          <p:cNvSpPr/>
          <p:nvPr/>
        </p:nvSpPr>
        <p:spPr>
          <a:xfrm>
            <a:off x="0" y="1447101"/>
            <a:ext cx="12086898" cy="36964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5B87865-4744-BDAC-92FA-1DD60B9D2769}"/>
              </a:ext>
            </a:extLst>
          </p:cNvPr>
          <p:cNvSpPr/>
          <p:nvPr/>
        </p:nvSpPr>
        <p:spPr>
          <a:xfrm>
            <a:off x="66788" y="4123058"/>
            <a:ext cx="11907643" cy="91073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AD824B7-9268-D3A1-3D4D-F5D159484A22}"/>
              </a:ext>
            </a:extLst>
          </p:cNvPr>
          <p:cNvCxnSpPr>
            <a:cxnSpLocks/>
          </p:cNvCxnSpPr>
          <p:nvPr/>
        </p:nvCxnSpPr>
        <p:spPr>
          <a:xfrm rot="5400000">
            <a:off x="10355194" y="2712168"/>
            <a:ext cx="2967464" cy="14565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5D9BCA1-1F45-4CA0-9DF2-F4F210DC2CF7}"/>
              </a:ext>
            </a:extLst>
          </p:cNvPr>
          <p:cNvSpPr/>
          <p:nvPr/>
        </p:nvSpPr>
        <p:spPr>
          <a:xfrm>
            <a:off x="6753687" y="1621120"/>
            <a:ext cx="4932890" cy="228232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7D84BD6-700E-EC75-7CF0-E65F28102040}"/>
              </a:ext>
            </a:extLst>
          </p:cNvPr>
          <p:cNvSpPr/>
          <p:nvPr/>
        </p:nvSpPr>
        <p:spPr>
          <a:xfrm>
            <a:off x="6868301" y="1713443"/>
            <a:ext cx="4773265" cy="12197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ACC2C-F5DE-5EAF-824E-E16CF457B9C1}"/>
              </a:ext>
            </a:extLst>
          </p:cNvPr>
          <p:cNvSpPr/>
          <p:nvPr/>
        </p:nvSpPr>
        <p:spPr>
          <a:xfrm>
            <a:off x="7971539" y="1760593"/>
            <a:ext cx="2072656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Pattern Recognition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A8663D-B855-21AA-BBED-4372FA85E956}"/>
              </a:ext>
            </a:extLst>
          </p:cNvPr>
          <p:cNvSpPr/>
          <p:nvPr/>
        </p:nvSpPr>
        <p:spPr>
          <a:xfrm>
            <a:off x="7570187" y="2316476"/>
            <a:ext cx="3242295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Causality LLM </a:t>
            </a:r>
            <a:r>
              <a:rPr lang="en-US" sz="1400" dirty="0"/>
              <a:t>(e.g., tariff vs demand, port closed vs delivery delay)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B14B04-529F-D388-EF47-CA87441A018C}"/>
              </a:ext>
            </a:extLst>
          </p:cNvPr>
          <p:cNvSpPr/>
          <p:nvPr/>
        </p:nvSpPr>
        <p:spPr>
          <a:xfrm>
            <a:off x="6868302" y="2995554"/>
            <a:ext cx="4773263" cy="7930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12BF27-0E56-9B42-36D6-F9CC0EF4467F}"/>
              </a:ext>
            </a:extLst>
          </p:cNvPr>
          <p:cNvSpPr txBox="1"/>
          <p:nvPr/>
        </p:nvSpPr>
        <p:spPr>
          <a:xfrm>
            <a:off x="6852153" y="3151291"/>
            <a:ext cx="4902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{Source: Tariff, Product: TR-S900, Impact: demand slashed 50%}</a:t>
            </a:r>
          </a:p>
          <a:p>
            <a:r>
              <a:rPr lang="en-US" sz="1000" dirty="0"/>
              <a:t>{Source: Typhon, Location: Shanghai, Impact : raw supply delayed 10 days}</a:t>
            </a:r>
          </a:p>
          <a:p>
            <a:r>
              <a:rPr lang="en-US" sz="1000" dirty="0"/>
              <a:t>{Source: Supplier, Product: UV-K100, Location: TW, Impact : delivery delayed 20 days}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9C84B6-5CDD-CD85-3777-A247F6B438C5}"/>
              </a:ext>
            </a:extLst>
          </p:cNvPr>
          <p:cNvSpPr/>
          <p:nvPr/>
        </p:nvSpPr>
        <p:spPr>
          <a:xfrm>
            <a:off x="1444339" y="4254773"/>
            <a:ext cx="10474149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356BFC-8313-F0B8-90DC-391BB7F86928}"/>
              </a:ext>
            </a:extLst>
          </p:cNvPr>
          <p:cNvSpPr txBox="1"/>
          <p:nvPr/>
        </p:nvSpPr>
        <p:spPr>
          <a:xfrm>
            <a:off x="281445" y="4154932"/>
            <a:ext cx="1483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Global inbound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20C20-B467-4175-1133-F3EA0604CC9E}"/>
              </a:ext>
            </a:extLst>
          </p:cNvPr>
          <p:cNvSpPr/>
          <p:nvPr/>
        </p:nvSpPr>
        <p:spPr>
          <a:xfrm flipV="1">
            <a:off x="1440178" y="4480329"/>
            <a:ext cx="10474148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207781-145C-7BEE-34EC-B2E85EDCBD98}"/>
              </a:ext>
            </a:extLst>
          </p:cNvPr>
          <p:cNvSpPr txBox="1"/>
          <p:nvPr/>
        </p:nvSpPr>
        <p:spPr>
          <a:xfrm>
            <a:off x="165335" y="4357900"/>
            <a:ext cx="1539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Global outbound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09FDF88-DD02-B5AE-FE4A-4E616EAC0284}"/>
              </a:ext>
            </a:extLst>
          </p:cNvPr>
          <p:cNvCxnSpPr>
            <a:cxnSpLocks/>
          </p:cNvCxnSpPr>
          <p:nvPr/>
        </p:nvCxnSpPr>
        <p:spPr>
          <a:xfrm flipV="1">
            <a:off x="8051063" y="3920602"/>
            <a:ext cx="0" cy="32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36683B8-CCD5-F8C1-078D-E6CE193CA6E7}"/>
              </a:ext>
            </a:extLst>
          </p:cNvPr>
          <p:cNvSpPr/>
          <p:nvPr/>
        </p:nvSpPr>
        <p:spPr>
          <a:xfrm>
            <a:off x="1440178" y="4678329"/>
            <a:ext cx="10474148" cy="524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51314B-6FC2-4C8A-A449-CF33D2EAD99F}"/>
              </a:ext>
            </a:extLst>
          </p:cNvPr>
          <p:cNvSpPr txBox="1"/>
          <p:nvPr/>
        </p:nvSpPr>
        <p:spPr>
          <a:xfrm>
            <a:off x="105229" y="4578346"/>
            <a:ext cx="137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Business Inbound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DF595D-865E-7D54-3A7E-88A5FA489C74}"/>
              </a:ext>
            </a:extLst>
          </p:cNvPr>
          <p:cNvSpPr txBox="1"/>
          <p:nvPr/>
        </p:nvSpPr>
        <p:spPr>
          <a:xfrm>
            <a:off x="4400025" y="0"/>
            <a:ext cx="3554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SCIN Architecture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5B8C69A-709F-FD63-F063-120779D2ADA0}"/>
              </a:ext>
            </a:extLst>
          </p:cNvPr>
          <p:cNvCxnSpPr>
            <a:cxnSpLocks/>
          </p:cNvCxnSpPr>
          <p:nvPr/>
        </p:nvCxnSpPr>
        <p:spPr>
          <a:xfrm>
            <a:off x="9614650" y="3937577"/>
            <a:ext cx="0" cy="542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3E9E90-D974-4E6B-7906-554EFD69FC8E}"/>
              </a:ext>
            </a:extLst>
          </p:cNvPr>
          <p:cNvGrpSpPr/>
          <p:nvPr/>
        </p:nvGrpSpPr>
        <p:grpSpPr>
          <a:xfrm>
            <a:off x="10268407" y="84386"/>
            <a:ext cx="1818491" cy="1200329"/>
            <a:chOff x="10268407" y="173215"/>
            <a:chExt cx="1818491" cy="1200329"/>
          </a:xfrm>
        </p:grpSpPr>
        <p:sp>
          <p:nvSpPr>
            <p:cNvPr id="40" name="Folded Corner 39">
              <a:extLst>
                <a:ext uri="{FF2B5EF4-FFF2-40B4-BE49-F238E27FC236}">
                  <a16:creationId xmlns:a16="http://schemas.microsoft.com/office/drawing/2014/main" id="{ED2671FD-0B3C-F503-1400-A6FCE4B800A8}"/>
                </a:ext>
              </a:extLst>
            </p:cNvPr>
            <p:cNvSpPr/>
            <p:nvPr/>
          </p:nvSpPr>
          <p:spPr>
            <a:xfrm>
              <a:off x="10268407" y="192124"/>
              <a:ext cx="1818491" cy="1170729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0D62A53-554A-F193-F497-8B7D00A3B276}"/>
                </a:ext>
              </a:extLst>
            </p:cNvPr>
            <p:cNvSpPr txBox="1"/>
            <p:nvPr/>
          </p:nvSpPr>
          <p:spPr>
            <a:xfrm>
              <a:off x="10268407" y="173215"/>
              <a:ext cx="181849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Global Events: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gov. bulletin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weather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social media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03D839C-6039-66CF-C2A1-057FB5EC6B33}"/>
              </a:ext>
            </a:extLst>
          </p:cNvPr>
          <p:cNvSpPr/>
          <p:nvPr/>
        </p:nvSpPr>
        <p:spPr>
          <a:xfrm>
            <a:off x="1440178" y="4893343"/>
            <a:ext cx="10474148" cy="524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E93796-373C-C339-C9D8-17006771CD18}"/>
              </a:ext>
            </a:extLst>
          </p:cNvPr>
          <p:cNvSpPr txBox="1"/>
          <p:nvPr/>
        </p:nvSpPr>
        <p:spPr>
          <a:xfrm>
            <a:off x="-7254" y="4767316"/>
            <a:ext cx="1600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Business Outbound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E96E9A-FE37-4B87-DDF1-B5AEA29CFFB4}"/>
              </a:ext>
            </a:extLst>
          </p:cNvPr>
          <p:cNvSpPr/>
          <p:nvPr/>
        </p:nvSpPr>
        <p:spPr>
          <a:xfrm>
            <a:off x="105101" y="1613415"/>
            <a:ext cx="6552957" cy="229998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D665DF6-A1C2-688C-6BC2-C6DC35B20C42}"/>
              </a:ext>
            </a:extLst>
          </p:cNvPr>
          <p:cNvSpPr/>
          <p:nvPr/>
        </p:nvSpPr>
        <p:spPr>
          <a:xfrm>
            <a:off x="219495" y="1653327"/>
            <a:ext cx="2124173" cy="134128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19485AD-6D4D-1D03-669B-1AA07E8D0FEF}"/>
              </a:ext>
            </a:extLst>
          </p:cNvPr>
          <p:cNvGrpSpPr/>
          <p:nvPr/>
        </p:nvGrpSpPr>
        <p:grpSpPr>
          <a:xfrm>
            <a:off x="509363" y="2494763"/>
            <a:ext cx="988908" cy="399920"/>
            <a:chOff x="10867697" y="5725970"/>
            <a:chExt cx="988908" cy="39992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72FBF88-24AB-585A-E784-EE688A8E1575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3E0BDFB-C3E9-89D1-3EFF-5A5EAEE1ECBE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67" name="Pentagon 66">
                <a:extLst>
                  <a:ext uri="{FF2B5EF4-FFF2-40B4-BE49-F238E27FC236}">
                    <a16:creationId xmlns:a16="http://schemas.microsoft.com/office/drawing/2014/main" id="{8292B5F0-C769-9FA0-56E0-00F6543DF94D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Pentagon 70">
                <a:extLst>
                  <a:ext uri="{FF2B5EF4-FFF2-40B4-BE49-F238E27FC236}">
                    <a16:creationId xmlns:a16="http://schemas.microsoft.com/office/drawing/2014/main" id="{8380A4B6-BC61-2E09-725A-30587ED096BA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Pentagon 71">
                <a:extLst>
                  <a:ext uri="{FF2B5EF4-FFF2-40B4-BE49-F238E27FC236}">
                    <a16:creationId xmlns:a16="http://schemas.microsoft.com/office/drawing/2014/main" id="{4B275B84-2588-A622-7DF5-31631F03E0EE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FDBAF8-0E1E-A0EE-991F-7F68ECF2AEC6}"/>
              </a:ext>
            </a:extLst>
          </p:cNvPr>
          <p:cNvSpPr txBox="1"/>
          <p:nvPr/>
        </p:nvSpPr>
        <p:spPr>
          <a:xfrm>
            <a:off x="254483" y="1665050"/>
            <a:ext cx="2133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Agent Powered</a:t>
            </a:r>
          </a:p>
          <a:p>
            <a:r>
              <a:rPr lang="en-US" dirty="0"/>
              <a:t>Workflow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35185E-6486-9F38-DC7D-4DF9AEDFA0D2}"/>
              </a:ext>
            </a:extLst>
          </p:cNvPr>
          <p:cNvSpPr/>
          <p:nvPr/>
        </p:nvSpPr>
        <p:spPr>
          <a:xfrm>
            <a:off x="2614038" y="1666150"/>
            <a:ext cx="1563841" cy="13284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E5D524-6384-F7B1-E971-585418223588}"/>
              </a:ext>
            </a:extLst>
          </p:cNvPr>
          <p:cNvSpPr txBox="1"/>
          <p:nvPr/>
        </p:nvSpPr>
        <p:spPr>
          <a:xfrm>
            <a:off x="2979063" y="1648882"/>
            <a:ext cx="882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Tooling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B535C38-8C8D-3771-DE8C-287B67C0B199}"/>
              </a:ext>
            </a:extLst>
          </p:cNvPr>
          <p:cNvSpPr/>
          <p:nvPr/>
        </p:nvSpPr>
        <p:spPr>
          <a:xfrm>
            <a:off x="2979063" y="2054728"/>
            <a:ext cx="939689" cy="6813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MCP client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17D2E0-9717-74BE-5445-B7ECD2D5BE67}"/>
              </a:ext>
            </a:extLst>
          </p:cNvPr>
          <p:cNvCxnSpPr>
            <a:cxnSpLocks/>
          </p:cNvCxnSpPr>
          <p:nvPr/>
        </p:nvCxnSpPr>
        <p:spPr>
          <a:xfrm flipV="1">
            <a:off x="3062237" y="3920602"/>
            <a:ext cx="0" cy="20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D6B1E65-3363-8526-1804-0AB9A8103BB6}"/>
              </a:ext>
            </a:extLst>
          </p:cNvPr>
          <p:cNvSpPr/>
          <p:nvPr/>
        </p:nvSpPr>
        <p:spPr>
          <a:xfrm>
            <a:off x="2369784" y="5355131"/>
            <a:ext cx="6392219" cy="130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44569D4-56AA-A4BC-DAF4-A7D74ACCA7C3}"/>
              </a:ext>
            </a:extLst>
          </p:cNvPr>
          <p:cNvSpPr/>
          <p:nvPr/>
        </p:nvSpPr>
        <p:spPr>
          <a:xfrm>
            <a:off x="2583607" y="5426222"/>
            <a:ext cx="1616876" cy="11668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MCP-Wrapped Supply Chain Engine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82A9E71-A9AA-0B2E-5402-7BD97603774A}"/>
              </a:ext>
            </a:extLst>
          </p:cNvPr>
          <p:cNvGrpSpPr/>
          <p:nvPr/>
        </p:nvGrpSpPr>
        <p:grpSpPr>
          <a:xfrm>
            <a:off x="6551076" y="5564159"/>
            <a:ext cx="1818491" cy="1002628"/>
            <a:chOff x="10268407" y="173215"/>
            <a:chExt cx="1818491" cy="1189638"/>
          </a:xfrm>
        </p:grpSpPr>
        <p:sp>
          <p:nvSpPr>
            <p:cNvPr id="54" name="Folded Corner 53">
              <a:extLst>
                <a:ext uri="{FF2B5EF4-FFF2-40B4-BE49-F238E27FC236}">
                  <a16:creationId xmlns:a16="http://schemas.microsoft.com/office/drawing/2014/main" id="{7E1CA9C1-2B2F-A26B-C286-491D04BDB2DC}"/>
                </a:ext>
              </a:extLst>
            </p:cNvPr>
            <p:cNvSpPr/>
            <p:nvPr/>
          </p:nvSpPr>
          <p:spPr>
            <a:xfrm>
              <a:off x="10268407" y="192124"/>
              <a:ext cx="1818491" cy="1170729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C356E1-E3C4-0B1B-1269-68F45FC48A48}"/>
                </a:ext>
              </a:extLst>
            </p:cNvPr>
            <p:cNvSpPr txBox="1"/>
            <p:nvPr/>
          </p:nvSpPr>
          <p:spPr>
            <a:xfrm>
              <a:off x="10268407" y="173215"/>
              <a:ext cx="1818491" cy="1095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Local Events: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shopfloor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support</a:t>
              </a:r>
            </a:p>
          </p:txBody>
        </p:sp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A761333B-ADC8-DBB5-8B34-F060BBCF11E1}"/>
              </a:ext>
            </a:extLst>
          </p:cNvPr>
          <p:cNvSpPr/>
          <p:nvPr/>
        </p:nvSpPr>
        <p:spPr>
          <a:xfrm>
            <a:off x="4542747" y="5589654"/>
            <a:ext cx="15471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MCP-Wrapped Legacy System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C34ABBA-0442-E3A8-FF0B-BC67841E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840" y="1665050"/>
            <a:ext cx="2323475" cy="2178958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078EFF6-D2EF-92A2-1DCF-44D9022FDAED}"/>
              </a:ext>
            </a:extLst>
          </p:cNvPr>
          <p:cNvCxnSpPr>
            <a:cxnSpLocks/>
            <a:stCxn id="63" idx="3"/>
            <a:endCxn id="75" idx="1"/>
          </p:cNvCxnSpPr>
          <p:nvPr/>
        </p:nvCxnSpPr>
        <p:spPr>
          <a:xfrm>
            <a:off x="2343668" y="2323969"/>
            <a:ext cx="270370" cy="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12A5275-9875-E8BB-450F-2C7002E3DB3B}"/>
              </a:ext>
            </a:extLst>
          </p:cNvPr>
          <p:cNvCxnSpPr>
            <a:cxnSpLocks/>
          </p:cNvCxnSpPr>
          <p:nvPr/>
        </p:nvCxnSpPr>
        <p:spPr>
          <a:xfrm>
            <a:off x="2029967" y="3903445"/>
            <a:ext cx="0" cy="77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B372002-F8E8-1C5A-BF64-F4F20C0EB664}"/>
              </a:ext>
            </a:extLst>
          </p:cNvPr>
          <p:cNvSpPr txBox="1"/>
          <p:nvPr/>
        </p:nvSpPr>
        <p:spPr>
          <a:xfrm>
            <a:off x="-53795" y="1056054"/>
            <a:ext cx="248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Cloud-Deployed SCIN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FED2FA9-14EC-D0DD-C5C1-A59006E70F19}"/>
              </a:ext>
            </a:extLst>
          </p:cNvPr>
          <p:cNvSpPr txBox="1"/>
          <p:nvPr/>
        </p:nvSpPr>
        <p:spPr>
          <a:xfrm>
            <a:off x="763788" y="5834168"/>
            <a:ext cx="158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Business XYZ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9C02F84-BF8C-72A7-90C1-B81EF0CD45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39362" y="5104083"/>
            <a:ext cx="864304" cy="131442"/>
          </a:xfrm>
          <a:prstGeom prst="bentConnector3">
            <a:avLst>
              <a:gd name="adj1" fmla="val 38245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D28F24C-9B22-12F0-4D84-099B9EEFFA74}"/>
              </a:ext>
            </a:extLst>
          </p:cNvPr>
          <p:cNvCxnSpPr>
            <a:cxnSpLocks/>
            <a:stCxn id="78" idx="4"/>
            <a:endCxn id="59" idx="0"/>
          </p:cNvCxnSpPr>
          <p:nvPr/>
        </p:nvCxnSpPr>
        <p:spPr>
          <a:xfrm flipH="1">
            <a:off x="3392045" y="2736094"/>
            <a:ext cx="56863" cy="2690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7" name="Picture 126">
            <a:extLst>
              <a:ext uri="{FF2B5EF4-FFF2-40B4-BE49-F238E27FC236}">
                <a16:creationId xmlns:a16="http://schemas.microsoft.com/office/drawing/2014/main" id="{26F6053E-8C18-D488-186A-650DDCB31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35" y="3063305"/>
            <a:ext cx="3983744" cy="78070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A07E5748-A52F-DEE6-AEFF-0BE2AE7D0117}"/>
              </a:ext>
            </a:extLst>
          </p:cNvPr>
          <p:cNvSpPr txBox="1"/>
          <p:nvPr/>
        </p:nvSpPr>
        <p:spPr>
          <a:xfrm>
            <a:off x="194095" y="3291246"/>
            <a:ext cx="1056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Global</a:t>
            </a:r>
          </a:p>
          <a:p>
            <a:r>
              <a:rPr lang="en-US" dirty="0"/>
              <a:t>Network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8D5E78E-4933-380C-B0EB-829D3B797526}"/>
              </a:ext>
            </a:extLst>
          </p:cNvPr>
          <p:cNvSpPr txBox="1"/>
          <p:nvPr/>
        </p:nvSpPr>
        <p:spPr>
          <a:xfrm>
            <a:off x="4965043" y="1574984"/>
            <a:ext cx="746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346707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6D6B-66E0-3C65-A447-A3F8E53D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EE3E7C3-A862-AC7C-668A-DC7E378ADEE5}"/>
              </a:ext>
            </a:extLst>
          </p:cNvPr>
          <p:cNvSpPr/>
          <p:nvPr/>
        </p:nvSpPr>
        <p:spPr>
          <a:xfrm>
            <a:off x="1722325" y="1486527"/>
            <a:ext cx="3044116" cy="616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CC08C-18D1-479F-4372-87D0FD533A06}"/>
              </a:ext>
            </a:extLst>
          </p:cNvPr>
          <p:cNvSpPr/>
          <p:nvPr/>
        </p:nvSpPr>
        <p:spPr>
          <a:xfrm>
            <a:off x="2759288" y="4179701"/>
            <a:ext cx="7993397" cy="2228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F084A-FE08-D304-F32A-7964B88F3771}"/>
              </a:ext>
            </a:extLst>
          </p:cNvPr>
          <p:cNvSpPr txBox="1"/>
          <p:nvPr/>
        </p:nvSpPr>
        <p:spPr>
          <a:xfrm>
            <a:off x="130760" y="1635269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55B99-E0BE-ADDB-62DE-88A5A20ED288}"/>
              </a:ext>
            </a:extLst>
          </p:cNvPr>
          <p:cNvSpPr txBox="1"/>
          <p:nvPr/>
        </p:nvSpPr>
        <p:spPr>
          <a:xfrm>
            <a:off x="176062" y="4853399"/>
            <a:ext cx="261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LLM-Orchestrated Agent</a:t>
            </a: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2B3EBE8D-1EF1-C31A-168C-4DC3BA5C43F6}"/>
              </a:ext>
            </a:extLst>
          </p:cNvPr>
          <p:cNvSpPr/>
          <p:nvPr/>
        </p:nvSpPr>
        <p:spPr>
          <a:xfrm>
            <a:off x="1835895" y="1654917"/>
            <a:ext cx="1288706" cy="36933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20A947-B0A9-5ECF-8907-9377C8628BA8}"/>
              </a:ext>
            </a:extLst>
          </p:cNvPr>
          <p:cNvSpPr txBox="1"/>
          <p:nvPr/>
        </p:nvSpPr>
        <p:spPr>
          <a:xfrm>
            <a:off x="1856763" y="161351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shop floor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23B0EA-F326-1811-A1E2-7D80EEA6F41B}"/>
              </a:ext>
            </a:extLst>
          </p:cNvPr>
          <p:cNvCxnSpPr>
            <a:cxnSpLocks/>
          </p:cNvCxnSpPr>
          <p:nvPr/>
        </p:nvCxnSpPr>
        <p:spPr>
          <a:xfrm>
            <a:off x="3034128" y="3450278"/>
            <a:ext cx="0" cy="729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CF7B123-EF1F-066E-237A-F3E027281B21}"/>
              </a:ext>
            </a:extLst>
          </p:cNvPr>
          <p:cNvSpPr/>
          <p:nvPr/>
        </p:nvSpPr>
        <p:spPr>
          <a:xfrm>
            <a:off x="8660431" y="2749880"/>
            <a:ext cx="2175642" cy="6578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SCP Solver</a:t>
            </a:r>
          </a:p>
        </p:txBody>
      </p:sp>
      <p:sp>
        <p:nvSpPr>
          <p:cNvPr id="23" name="Folded Corner 22">
            <a:extLst>
              <a:ext uri="{FF2B5EF4-FFF2-40B4-BE49-F238E27FC236}">
                <a16:creationId xmlns:a16="http://schemas.microsoft.com/office/drawing/2014/main" id="{AFB39376-EC6F-F410-E546-44B7AD8156F7}"/>
              </a:ext>
            </a:extLst>
          </p:cNvPr>
          <p:cNvSpPr/>
          <p:nvPr/>
        </p:nvSpPr>
        <p:spPr>
          <a:xfrm>
            <a:off x="3339041" y="1657512"/>
            <a:ext cx="1288706" cy="36933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A0705263-8324-18CD-6F87-D5C878E81778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2800050" y="2344902"/>
            <a:ext cx="646630" cy="163325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B06658-D823-1DDC-5315-21012307CB0E}"/>
              </a:ext>
            </a:extLst>
          </p:cNvPr>
          <p:cNvSpPr txBox="1"/>
          <p:nvPr/>
        </p:nvSpPr>
        <p:spPr>
          <a:xfrm>
            <a:off x="3339041" y="1627110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0C60B-7712-AA48-7E95-4CF9249CC89D}"/>
              </a:ext>
            </a:extLst>
          </p:cNvPr>
          <p:cNvSpPr/>
          <p:nvPr/>
        </p:nvSpPr>
        <p:spPr>
          <a:xfrm>
            <a:off x="5175550" y="1613516"/>
            <a:ext cx="6764716" cy="3554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Global Supply Chain Information Hub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5E46AD-B1EA-7A69-CBD2-498901A7BDE0}"/>
              </a:ext>
            </a:extLst>
          </p:cNvPr>
          <p:cNvGrpSpPr/>
          <p:nvPr/>
        </p:nvGrpSpPr>
        <p:grpSpPr>
          <a:xfrm>
            <a:off x="2929115" y="4582907"/>
            <a:ext cx="988908" cy="399920"/>
            <a:chOff x="10867697" y="5725970"/>
            <a:chExt cx="988908" cy="39992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EF8073F-79B4-AD65-D401-5F4E475FDAE1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AB415FB-3A70-C548-C227-C22F29B39269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3" name="Pentagon 2">
                <a:extLst>
                  <a:ext uri="{FF2B5EF4-FFF2-40B4-BE49-F238E27FC236}">
                    <a16:creationId xmlns:a16="http://schemas.microsoft.com/office/drawing/2014/main" id="{11756A23-9818-F432-E513-3AF3BAF60D6D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Pentagon 6">
                <a:extLst>
                  <a:ext uri="{FF2B5EF4-FFF2-40B4-BE49-F238E27FC236}">
                    <a16:creationId xmlns:a16="http://schemas.microsoft.com/office/drawing/2014/main" id="{43F8B123-1D60-8948-C7A1-6485ED1A1DA9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Pentagon 8">
                <a:extLst>
                  <a:ext uri="{FF2B5EF4-FFF2-40B4-BE49-F238E27FC236}">
                    <a16:creationId xmlns:a16="http://schemas.microsoft.com/office/drawing/2014/main" id="{D808B884-5186-5D5C-535A-7B91264D24D1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ular Callout 21">
            <a:extLst>
              <a:ext uri="{FF2B5EF4-FFF2-40B4-BE49-F238E27FC236}">
                <a16:creationId xmlns:a16="http://schemas.microsoft.com/office/drawing/2014/main" id="{54DB04EB-6E21-DEE2-8721-8A6923B8787D}"/>
              </a:ext>
            </a:extLst>
          </p:cNvPr>
          <p:cNvSpPr/>
          <p:nvPr/>
        </p:nvSpPr>
        <p:spPr>
          <a:xfrm>
            <a:off x="2747828" y="2749880"/>
            <a:ext cx="914400" cy="612648"/>
          </a:xfrm>
          <a:prstGeom prst="wedgeRect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Events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D8F3B1-F59F-CDAB-B97D-D6EBA275E54D}"/>
              </a:ext>
            </a:extLst>
          </p:cNvPr>
          <p:cNvSpPr txBox="1"/>
          <p:nvPr/>
        </p:nvSpPr>
        <p:spPr>
          <a:xfrm>
            <a:off x="176062" y="2993196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sp>
        <p:nvSpPr>
          <p:cNvPr id="32" name="Rectangular Callout 31">
            <a:extLst>
              <a:ext uri="{FF2B5EF4-FFF2-40B4-BE49-F238E27FC236}">
                <a16:creationId xmlns:a16="http://schemas.microsoft.com/office/drawing/2014/main" id="{6125233C-1EF8-D860-879F-CDD2AC0E9112}"/>
              </a:ext>
            </a:extLst>
          </p:cNvPr>
          <p:cNvSpPr/>
          <p:nvPr/>
        </p:nvSpPr>
        <p:spPr>
          <a:xfrm>
            <a:off x="4314144" y="2772482"/>
            <a:ext cx="914400" cy="612648"/>
          </a:xfrm>
          <a:prstGeom prst="wedgeRect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Global Events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6BDE3BD-A16B-E75F-12A3-842EB5D5998F}"/>
              </a:ext>
            </a:extLst>
          </p:cNvPr>
          <p:cNvCxnSpPr>
            <a:cxnSpLocks/>
            <a:stCxn id="2" idx="2"/>
            <a:endCxn id="32" idx="0"/>
          </p:cNvCxnSpPr>
          <p:nvPr/>
        </p:nvCxnSpPr>
        <p:spPr>
          <a:xfrm rot="5400000">
            <a:off x="6262852" y="477426"/>
            <a:ext cx="803548" cy="3786564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82DF21-3B98-5A52-45BB-8F1D67F5C6D0}"/>
              </a:ext>
            </a:extLst>
          </p:cNvPr>
          <p:cNvGrpSpPr/>
          <p:nvPr/>
        </p:nvGrpSpPr>
        <p:grpSpPr>
          <a:xfrm>
            <a:off x="11113925" y="2752649"/>
            <a:ext cx="826341" cy="676362"/>
            <a:chOff x="9316141" y="2786108"/>
            <a:chExt cx="826341" cy="676362"/>
          </a:xfrm>
        </p:grpSpPr>
        <p:sp>
          <p:nvSpPr>
            <p:cNvPr id="43" name="Double Brace 42">
              <a:extLst>
                <a:ext uri="{FF2B5EF4-FFF2-40B4-BE49-F238E27FC236}">
                  <a16:creationId xmlns:a16="http://schemas.microsoft.com/office/drawing/2014/main" id="{8C2608DF-C3F6-FBB8-5A69-7CA0976AFF10}"/>
                </a:ext>
              </a:extLst>
            </p:cNvPr>
            <p:cNvSpPr/>
            <p:nvPr/>
          </p:nvSpPr>
          <p:spPr>
            <a:xfrm>
              <a:off x="9316141" y="2786108"/>
              <a:ext cx="826341" cy="676362"/>
            </a:xfrm>
            <a:prstGeom prst="brace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94E799B-0B85-EB03-F76F-3774F9DBAA13}"/>
                </a:ext>
              </a:extLst>
            </p:cNvPr>
            <p:cNvSpPr txBox="1"/>
            <p:nvPr/>
          </p:nvSpPr>
          <p:spPr>
            <a:xfrm>
              <a:off x="9316141" y="2816139"/>
              <a:ext cx="8263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Demand</a:t>
              </a:r>
            </a:p>
            <a:p>
              <a:r>
                <a:rPr lang="en-US" sz="1200" dirty="0"/>
                <a:t>Supply</a:t>
              </a:r>
            </a:p>
            <a:p>
              <a:r>
                <a:rPr lang="en-US" sz="1200" dirty="0"/>
                <a:t>Capacity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ED94488-CF16-2F67-3432-5378B2B9A2CE}"/>
              </a:ext>
            </a:extLst>
          </p:cNvPr>
          <p:cNvCxnSpPr>
            <a:cxnSpLocks/>
          </p:cNvCxnSpPr>
          <p:nvPr/>
        </p:nvCxnSpPr>
        <p:spPr>
          <a:xfrm>
            <a:off x="4618473" y="3450278"/>
            <a:ext cx="0" cy="729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3ADBBA-12E5-AFDE-818F-289ADC04FDFB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9748252" y="3407733"/>
            <a:ext cx="0" cy="750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90BC6E8-0F9F-628F-0E04-7E7319C6C83E}"/>
              </a:ext>
            </a:extLst>
          </p:cNvPr>
          <p:cNvGrpSpPr/>
          <p:nvPr/>
        </p:nvGrpSpPr>
        <p:grpSpPr>
          <a:xfrm>
            <a:off x="4536244" y="5022771"/>
            <a:ext cx="988908" cy="399920"/>
            <a:chOff x="10867697" y="5725970"/>
            <a:chExt cx="988908" cy="39992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0C8CA9D-886B-0835-90FB-A8A759609072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F508B16-F343-B040-197B-885E93415171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72" name="Pentagon 71">
                <a:extLst>
                  <a:ext uri="{FF2B5EF4-FFF2-40B4-BE49-F238E27FC236}">
                    <a16:creationId xmlns:a16="http://schemas.microsoft.com/office/drawing/2014/main" id="{2042499C-DF7F-A280-6368-2DAB6CE7F69C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Pentagon 72">
                <a:extLst>
                  <a:ext uri="{FF2B5EF4-FFF2-40B4-BE49-F238E27FC236}">
                    <a16:creationId xmlns:a16="http://schemas.microsoft.com/office/drawing/2014/main" id="{89D5AFEF-70AB-9D4B-56A2-76101D6DCCE9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Pentagon 73">
                <a:extLst>
                  <a:ext uri="{FF2B5EF4-FFF2-40B4-BE49-F238E27FC236}">
                    <a16:creationId xmlns:a16="http://schemas.microsoft.com/office/drawing/2014/main" id="{4116D8C1-2096-FF84-8337-9DB271E59F27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8A148E-8510-05D4-0687-3AC35FE776D1}"/>
              </a:ext>
            </a:extLst>
          </p:cNvPr>
          <p:cNvGrpSpPr/>
          <p:nvPr/>
        </p:nvGrpSpPr>
        <p:grpSpPr>
          <a:xfrm>
            <a:off x="6162239" y="5479684"/>
            <a:ext cx="988908" cy="399920"/>
            <a:chOff x="10867697" y="5725970"/>
            <a:chExt cx="988908" cy="39992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7D76120-E915-57D4-B07E-89A84BEB5C05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2B2C37A-2B7A-9E36-A373-7A0D1D798077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79" name="Pentagon 78">
                <a:extLst>
                  <a:ext uri="{FF2B5EF4-FFF2-40B4-BE49-F238E27FC236}">
                    <a16:creationId xmlns:a16="http://schemas.microsoft.com/office/drawing/2014/main" id="{40982C91-175E-973C-E8FD-01A18401B9E1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Pentagon 79">
                <a:extLst>
                  <a:ext uri="{FF2B5EF4-FFF2-40B4-BE49-F238E27FC236}">
                    <a16:creationId xmlns:a16="http://schemas.microsoft.com/office/drawing/2014/main" id="{A29575E9-5DC6-5D7F-FBC6-6F118CD073D8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Pentagon 80">
                <a:extLst>
                  <a:ext uri="{FF2B5EF4-FFF2-40B4-BE49-F238E27FC236}">
                    <a16:creationId xmlns:a16="http://schemas.microsoft.com/office/drawing/2014/main" id="{4CA5005C-4F09-5E96-0035-4726697E4AD2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16377D63-34CE-F881-A8EB-0EF6E4B7A7BE}"/>
              </a:ext>
            </a:extLst>
          </p:cNvPr>
          <p:cNvSpPr txBox="1"/>
          <p:nvPr/>
        </p:nvSpPr>
        <p:spPr>
          <a:xfrm>
            <a:off x="8993482" y="4273017"/>
            <a:ext cx="1230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60A01B9-4B1D-BB7B-256B-4A97F7E00C96}"/>
              </a:ext>
            </a:extLst>
          </p:cNvPr>
          <p:cNvCxnSpPr>
            <a:cxnSpLocks/>
            <a:stCxn id="53" idx="3"/>
            <a:endCxn id="45" idx="1"/>
          </p:cNvCxnSpPr>
          <p:nvPr/>
        </p:nvCxnSpPr>
        <p:spPr>
          <a:xfrm>
            <a:off x="10836073" y="3078807"/>
            <a:ext cx="277852" cy="27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67D5A40-EBA1-A687-0887-DB562B65FE32}"/>
              </a:ext>
            </a:extLst>
          </p:cNvPr>
          <p:cNvSpPr txBox="1"/>
          <p:nvPr/>
        </p:nvSpPr>
        <p:spPr>
          <a:xfrm>
            <a:off x="4638158" y="284768"/>
            <a:ext cx="3766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Local LLM-Powered Agent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C35C699-CE73-0EF0-8783-29CE2035BFBC}"/>
              </a:ext>
            </a:extLst>
          </p:cNvPr>
          <p:cNvGrpSpPr/>
          <p:nvPr/>
        </p:nvGrpSpPr>
        <p:grpSpPr>
          <a:xfrm>
            <a:off x="8066222" y="5884452"/>
            <a:ext cx="988908" cy="399920"/>
            <a:chOff x="10867697" y="5725970"/>
            <a:chExt cx="988908" cy="399920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4137776-D1A0-5586-6501-AED3104E68F8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AF19487-6B54-AB01-97AA-B4CB201BEBCE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97" name="Pentagon 96">
                <a:extLst>
                  <a:ext uri="{FF2B5EF4-FFF2-40B4-BE49-F238E27FC236}">
                    <a16:creationId xmlns:a16="http://schemas.microsoft.com/office/drawing/2014/main" id="{F68D0716-9A61-1FEF-217B-423143E4C034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Pentagon 97">
                <a:extLst>
                  <a:ext uri="{FF2B5EF4-FFF2-40B4-BE49-F238E27FC236}">
                    <a16:creationId xmlns:a16="http://schemas.microsoft.com/office/drawing/2014/main" id="{30B84120-DB04-DA17-5927-9BDDAB16A537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8B57D04D-07F3-5BFB-4B54-558EE24934DD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2AC82A5-25CF-487D-B4BD-85CC425C5971}"/>
              </a:ext>
            </a:extLst>
          </p:cNvPr>
          <p:cNvSpPr txBox="1"/>
          <p:nvPr/>
        </p:nvSpPr>
        <p:spPr>
          <a:xfrm>
            <a:off x="3857545" y="4635434"/>
            <a:ext cx="123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Local events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136AF92-F52E-3AF8-27BE-6116E4B206E5}"/>
              </a:ext>
            </a:extLst>
          </p:cNvPr>
          <p:cNvSpPr txBox="1"/>
          <p:nvPr/>
        </p:nvSpPr>
        <p:spPr>
          <a:xfrm>
            <a:off x="5445716" y="5002198"/>
            <a:ext cx="1297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Global events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7B5630-DDF9-6163-B1E8-45BC0F9D3C8D}"/>
              </a:ext>
            </a:extLst>
          </p:cNvPr>
          <p:cNvSpPr txBox="1"/>
          <p:nvPr/>
        </p:nvSpPr>
        <p:spPr>
          <a:xfrm>
            <a:off x="7093955" y="5497108"/>
            <a:ext cx="1441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LLM Reasoning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AE32CEF-90AB-9048-0AAB-F933453C60C6}"/>
              </a:ext>
            </a:extLst>
          </p:cNvPr>
          <p:cNvSpPr txBox="1"/>
          <p:nvPr/>
        </p:nvSpPr>
        <p:spPr>
          <a:xfrm>
            <a:off x="9012216" y="5846976"/>
            <a:ext cx="195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SCP Solve with adjusted parameters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4814D6FD-5567-AC21-04C8-A052AD0361BC}"/>
              </a:ext>
            </a:extLst>
          </p:cNvPr>
          <p:cNvSpPr/>
          <p:nvPr/>
        </p:nvSpPr>
        <p:spPr>
          <a:xfrm>
            <a:off x="5685744" y="2745303"/>
            <a:ext cx="2380478" cy="612648"/>
          </a:xfrm>
          <a:prstGeom prst="wedgeRect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LLM-based causality analyzer </a:t>
            </a:r>
            <a:r>
              <a:rPr lang="en-US" sz="1200" dirty="0"/>
              <a:t>(e.g., tariff vs demand, port closed vs delivery delay)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144DD1-A324-BF85-EFEE-F46260A69469}"/>
              </a:ext>
            </a:extLst>
          </p:cNvPr>
          <p:cNvCxnSpPr>
            <a:cxnSpLocks/>
          </p:cNvCxnSpPr>
          <p:nvPr/>
        </p:nvCxnSpPr>
        <p:spPr>
          <a:xfrm>
            <a:off x="6382036" y="3450278"/>
            <a:ext cx="0" cy="72942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22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960A-E91F-9055-8706-D8430D57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745" y="501760"/>
            <a:ext cx="8736724" cy="1325563"/>
          </a:xfrm>
        </p:spPr>
        <p:txBody>
          <a:bodyPr/>
          <a:lstStyle/>
          <a:p>
            <a:r>
              <a:rPr lang="en-US" dirty="0"/>
              <a:t>Global Supply Chain Information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5F52A-84F3-4741-264B-CA55048A1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27" y="2487777"/>
            <a:ext cx="10281745" cy="284096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Pub-Sub architecture accommodating complex many-to-many trading relationships (E2open: point-to-point).</a:t>
            </a:r>
          </a:p>
          <a:p>
            <a:r>
              <a:rPr lang="en-US" dirty="0"/>
              <a:t>Vendor independent (E2open: vendor lock-in).</a:t>
            </a:r>
          </a:p>
          <a:p>
            <a:r>
              <a:rPr lang="en-US" dirty="0"/>
              <a:t>LLM-powered intelligence extraction from global, local, partner sources.</a:t>
            </a:r>
          </a:p>
          <a:p>
            <a:r>
              <a:rPr lang="en-US" dirty="0"/>
              <a:t>Cloud-deployed minimizing local footprint accommodating businesses of any sizes.</a:t>
            </a:r>
          </a:p>
          <a:p>
            <a:r>
              <a:rPr lang="en-US" dirty="0"/>
              <a:t>Open architecture for further extensibility in: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On-boarding new trading partners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Plugging-in new data sources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Adding new tools (e.g., LLM-based causality analyzer)</a:t>
            </a:r>
          </a:p>
        </p:txBody>
      </p:sp>
    </p:spTree>
    <p:extLst>
      <p:ext uri="{BB962C8B-B14F-4D97-AF65-F5344CB8AC3E}">
        <p14:creationId xmlns:p14="http://schemas.microsoft.com/office/powerpoint/2010/main" val="374438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EFB3-4E19-DBCE-B7D7-E107AD1A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Offerings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B1F6F-7C57-E6E5-741D-67BC6A2CF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Realtime global events curated per material/location.</a:t>
            </a:r>
          </a:p>
          <a:p>
            <a:r>
              <a:rPr lang="en-US" dirty="0"/>
              <a:t>Realtime upstream/downstream trading partner events pertinent to business operations (e.g., demand/supply updates).</a:t>
            </a:r>
          </a:p>
          <a:p>
            <a:r>
              <a:rPr lang="en-US" dirty="0"/>
              <a:t>Realtime broadcast/notification of business updates to upstream/downstream trading partners.</a:t>
            </a:r>
          </a:p>
          <a:p>
            <a:r>
              <a:rPr lang="en-US" dirty="0"/>
              <a:t>Realtime supply chain events (by transitivity) pertinent to business operations (e.g., demand/supply updates).</a:t>
            </a:r>
          </a:p>
          <a:p>
            <a:r>
              <a:rPr lang="en-US" dirty="0"/>
              <a:t>Integration with in-house supply chain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371056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6519A6-5C5B-BD75-191D-ACFCBE3F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A651B5-5FCD-BCA9-60D9-7796AC1FA0D8}"/>
              </a:ext>
            </a:extLst>
          </p:cNvPr>
          <p:cNvSpPr/>
          <p:nvPr/>
        </p:nvSpPr>
        <p:spPr>
          <a:xfrm>
            <a:off x="3091888" y="1958333"/>
            <a:ext cx="7473138" cy="76799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AF8A0-EF69-DCA2-0D1F-F17556DCAF4D}"/>
              </a:ext>
            </a:extLst>
          </p:cNvPr>
          <p:cNvSpPr txBox="1"/>
          <p:nvPr/>
        </p:nvSpPr>
        <p:spPr>
          <a:xfrm>
            <a:off x="537874" y="759420"/>
            <a:ext cx="214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 Ingestion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13BB48-2236-0DD8-DCF6-7C3C010FE6A5}"/>
              </a:ext>
            </a:extLst>
          </p:cNvPr>
          <p:cNvSpPr txBox="1"/>
          <p:nvPr/>
        </p:nvSpPr>
        <p:spPr>
          <a:xfrm>
            <a:off x="981649" y="2172323"/>
            <a:ext cx="91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26DE6-E3E4-EDD0-44A6-DA33AE6744CB}"/>
              </a:ext>
            </a:extLst>
          </p:cNvPr>
          <p:cNvSpPr/>
          <p:nvPr/>
        </p:nvSpPr>
        <p:spPr>
          <a:xfrm>
            <a:off x="4627830" y="2110733"/>
            <a:ext cx="1102154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BA1FDD-E015-262B-A672-91859682880A}"/>
              </a:ext>
            </a:extLst>
          </p:cNvPr>
          <p:cNvSpPr txBox="1"/>
          <p:nvPr/>
        </p:nvSpPr>
        <p:spPr>
          <a:xfrm>
            <a:off x="3091888" y="2146048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F0B76B-EA23-E243-DA4A-F19A904E65C8}"/>
              </a:ext>
            </a:extLst>
          </p:cNvPr>
          <p:cNvSpPr/>
          <p:nvPr/>
        </p:nvSpPr>
        <p:spPr>
          <a:xfrm>
            <a:off x="5984416" y="2107370"/>
            <a:ext cx="1479063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Pattern Recognition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B08DE3-5D84-E20C-6CC8-2B904D6452A2}"/>
              </a:ext>
            </a:extLst>
          </p:cNvPr>
          <p:cNvSpPr/>
          <p:nvPr/>
        </p:nvSpPr>
        <p:spPr>
          <a:xfrm>
            <a:off x="7717911" y="2107369"/>
            <a:ext cx="2638096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Detection/Classification</a:t>
            </a: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9AD60581-AF42-863C-2986-822819919B78}"/>
              </a:ext>
            </a:extLst>
          </p:cNvPr>
          <p:cNvSpPr/>
          <p:nvPr/>
        </p:nvSpPr>
        <p:spPr>
          <a:xfrm>
            <a:off x="3060350" y="1072147"/>
            <a:ext cx="1288706" cy="36933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38601CD-F55D-C7A4-2252-6EADE6D5E84B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3511930" y="1634251"/>
            <a:ext cx="544661" cy="159115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576D33-0BB7-6B60-D807-00550566EA15}"/>
              </a:ext>
            </a:extLst>
          </p:cNvPr>
          <p:cNvSpPr txBox="1"/>
          <p:nvPr/>
        </p:nvSpPr>
        <p:spPr>
          <a:xfrm>
            <a:off x="3081218" y="103074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shop floor</a:t>
            </a:r>
          </a:p>
        </p:txBody>
      </p:sp>
      <p:sp>
        <p:nvSpPr>
          <p:cNvPr id="30" name="Folded Corner 29">
            <a:extLst>
              <a:ext uri="{FF2B5EF4-FFF2-40B4-BE49-F238E27FC236}">
                <a16:creationId xmlns:a16="http://schemas.microsoft.com/office/drawing/2014/main" id="{B11DEAF4-4C3F-9877-91FA-B3BD7AAC2EAA}"/>
              </a:ext>
            </a:extLst>
          </p:cNvPr>
          <p:cNvSpPr/>
          <p:nvPr/>
        </p:nvSpPr>
        <p:spPr>
          <a:xfrm>
            <a:off x="5778495" y="346210"/>
            <a:ext cx="1455848" cy="417813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0E0608A-E19B-4642-228E-EDFF0A04E76E}"/>
              </a:ext>
            </a:extLst>
          </p:cNvPr>
          <p:cNvCxnSpPr>
            <a:cxnSpLocks/>
            <a:stCxn id="30" idx="2"/>
            <a:endCxn id="4" idx="0"/>
          </p:cNvCxnSpPr>
          <p:nvPr/>
        </p:nvCxnSpPr>
        <p:spPr>
          <a:xfrm rot="16200000" flipH="1">
            <a:off x="6070283" y="1200159"/>
            <a:ext cx="1194310" cy="322038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51D3869-4CCD-6A2A-FE84-5FCE64A01374}"/>
              </a:ext>
            </a:extLst>
          </p:cNvPr>
          <p:cNvSpPr txBox="1"/>
          <p:nvPr/>
        </p:nvSpPr>
        <p:spPr>
          <a:xfrm>
            <a:off x="5772072" y="408588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social media</a:t>
            </a:r>
          </a:p>
        </p:txBody>
      </p:sp>
      <p:sp>
        <p:nvSpPr>
          <p:cNvPr id="35" name="Folded Corner 34">
            <a:extLst>
              <a:ext uri="{FF2B5EF4-FFF2-40B4-BE49-F238E27FC236}">
                <a16:creationId xmlns:a16="http://schemas.microsoft.com/office/drawing/2014/main" id="{7BAFEC44-7FCB-266F-53D8-E9FDCA8F7A31}"/>
              </a:ext>
            </a:extLst>
          </p:cNvPr>
          <p:cNvSpPr/>
          <p:nvPr/>
        </p:nvSpPr>
        <p:spPr>
          <a:xfrm>
            <a:off x="7463479" y="345579"/>
            <a:ext cx="1455848" cy="41781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239A33FE-4C79-F752-96ED-234DC8D5D6B2}"/>
              </a:ext>
            </a:extLst>
          </p:cNvPr>
          <p:cNvCxnSpPr>
            <a:cxnSpLocks/>
            <a:stCxn id="35" idx="2"/>
          </p:cNvCxnSpPr>
          <p:nvPr/>
        </p:nvCxnSpPr>
        <p:spPr>
          <a:xfrm rot="16200000" flipH="1">
            <a:off x="7789744" y="1165053"/>
            <a:ext cx="1177670" cy="37435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23D046B-C32C-50AB-63BF-877075A915DF}"/>
              </a:ext>
            </a:extLst>
          </p:cNvPr>
          <p:cNvSpPr txBox="1"/>
          <p:nvPr/>
        </p:nvSpPr>
        <p:spPr>
          <a:xfrm>
            <a:off x="7496253" y="401624"/>
            <a:ext cx="1374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gov. bulletin</a:t>
            </a:r>
          </a:p>
        </p:txBody>
      </p:sp>
      <p:sp>
        <p:nvSpPr>
          <p:cNvPr id="40" name="Folded Corner 39">
            <a:extLst>
              <a:ext uri="{FF2B5EF4-FFF2-40B4-BE49-F238E27FC236}">
                <a16:creationId xmlns:a16="http://schemas.microsoft.com/office/drawing/2014/main" id="{4515CEAC-7CAB-F5B3-6E60-CC840D3830D3}"/>
              </a:ext>
            </a:extLst>
          </p:cNvPr>
          <p:cNvSpPr/>
          <p:nvPr/>
        </p:nvSpPr>
        <p:spPr>
          <a:xfrm>
            <a:off x="9882810" y="345579"/>
            <a:ext cx="1093359" cy="41781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4429062-C75C-F562-9DD3-E5DC28DD6D7E}"/>
              </a:ext>
            </a:extLst>
          </p:cNvPr>
          <p:cNvCxnSpPr>
            <a:cxnSpLocks/>
            <a:stCxn id="40" idx="2"/>
          </p:cNvCxnSpPr>
          <p:nvPr/>
        </p:nvCxnSpPr>
        <p:spPr>
          <a:xfrm rot="5400000">
            <a:off x="9770533" y="1275135"/>
            <a:ext cx="1170698" cy="147217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7B716E3-C2C1-1B1E-6713-ED63784340DC}"/>
              </a:ext>
            </a:extLst>
          </p:cNvPr>
          <p:cNvSpPr txBox="1"/>
          <p:nvPr/>
        </p:nvSpPr>
        <p:spPr>
          <a:xfrm>
            <a:off x="9927132" y="370450"/>
            <a:ext cx="9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weather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E1613-C5C0-B9CF-0C86-495157BEB7AE}"/>
              </a:ext>
            </a:extLst>
          </p:cNvPr>
          <p:cNvSpPr txBox="1"/>
          <p:nvPr/>
        </p:nvSpPr>
        <p:spPr>
          <a:xfrm>
            <a:off x="9325958" y="372299"/>
            <a:ext cx="3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323DE2-FB98-AB0E-7EDB-78FB8B09647E}"/>
              </a:ext>
            </a:extLst>
          </p:cNvPr>
          <p:cNvSpPr txBox="1"/>
          <p:nvPr/>
        </p:nvSpPr>
        <p:spPr>
          <a:xfrm>
            <a:off x="514983" y="3622803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Impact/Decision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D1A1DAC-8F76-DC85-CAD0-D4FD52383DE5}"/>
              </a:ext>
            </a:extLst>
          </p:cNvPr>
          <p:cNvCxnSpPr>
            <a:cxnSpLocks/>
          </p:cNvCxnSpPr>
          <p:nvPr/>
        </p:nvCxnSpPr>
        <p:spPr>
          <a:xfrm>
            <a:off x="6617412" y="2755648"/>
            <a:ext cx="0" cy="709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1F64B2C-B1FE-9AFE-EE5B-B27D50E40E12}"/>
              </a:ext>
            </a:extLst>
          </p:cNvPr>
          <p:cNvSpPr txBox="1"/>
          <p:nvPr/>
        </p:nvSpPr>
        <p:spPr>
          <a:xfrm>
            <a:off x="855076" y="5539553"/>
            <a:ext cx="11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BC7B156-3530-99A6-F6EA-7A3EFFEA603A}"/>
              </a:ext>
            </a:extLst>
          </p:cNvPr>
          <p:cNvSpPr/>
          <p:nvPr/>
        </p:nvSpPr>
        <p:spPr>
          <a:xfrm>
            <a:off x="3098982" y="3464988"/>
            <a:ext cx="7473138" cy="9463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5BE18A-ED01-B341-41A9-BD3062A67C06}"/>
              </a:ext>
            </a:extLst>
          </p:cNvPr>
          <p:cNvSpPr txBox="1"/>
          <p:nvPr/>
        </p:nvSpPr>
        <p:spPr>
          <a:xfrm>
            <a:off x="4057826" y="3833457"/>
            <a:ext cx="5108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Typhon, Location: Shanghai, Impact : raw supply delayed 10 days}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37A18D-8D9D-6DF3-FB08-C70AFC87092D}"/>
              </a:ext>
            </a:extLst>
          </p:cNvPr>
          <p:cNvSpPr txBox="1"/>
          <p:nvPr/>
        </p:nvSpPr>
        <p:spPr>
          <a:xfrm>
            <a:off x="3067574" y="3539186"/>
            <a:ext cx="4417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Tariff, Product: TR-S900, Impact: demand slashed 50%}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787C90-35E4-84C8-043D-F41D6C0F6B49}"/>
              </a:ext>
            </a:extLst>
          </p:cNvPr>
          <p:cNvSpPr txBox="1"/>
          <p:nvPr/>
        </p:nvSpPr>
        <p:spPr>
          <a:xfrm>
            <a:off x="5712954" y="4106569"/>
            <a:ext cx="4839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Machine Down, Location: TW, Impact : capacity slashed 10%}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06C7DB-AA05-F7FE-8668-B1B30B36F1D3}"/>
              </a:ext>
            </a:extLst>
          </p:cNvPr>
          <p:cNvSpPr/>
          <p:nvPr/>
        </p:nvSpPr>
        <p:spPr>
          <a:xfrm>
            <a:off x="3863819" y="5573668"/>
            <a:ext cx="5587306" cy="6578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SCP Solver</a:t>
            </a:r>
          </a:p>
        </p:txBody>
      </p:sp>
      <p:sp>
        <p:nvSpPr>
          <p:cNvPr id="54" name="Hexagon 53">
            <a:extLst>
              <a:ext uri="{FF2B5EF4-FFF2-40B4-BE49-F238E27FC236}">
                <a16:creationId xmlns:a16="http://schemas.microsoft.com/office/drawing/2014/main" id="{E2A0D5A7-F7DA-0333-79C3-C5DC136BA2D4}"/>
              </a:ext>
            </a:extLst>
          </p:cNvPr>
          <p:cNvSpPr/>
          <p:nvPr/>
        </p:nvSpPr>
        <p:spPr>
          <a:xfrm>
            <a:off x="3863818" y="5092980"/>
            <a:ext cx="1332861" cy="39104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Demand</a:t>
            </a:r>
          </a:p>
        </p:txBody>
      </p:sp>
      <p:sp>
        <p:nvSpPr>
          <p:cNvPr id="55" name="Hexagon 54">
            <a:extLst>
              <a:ext uri="{FF2B5EF4-FFF2-40B4-BE49-F238E27FC236}">
                <a16:creationId xmlns:a16="http://schemas.microsoft.com/office/drawing/2014/main" id="{B023A225-2DF1-43CD-9B57-0BB3EEA150BD}"/>
              </a:ext>
            </a:extLst>
          </p:cNvPr>
          <p:cNvSpPr/>
          <p:nvPr/>
        </p:nvSpPr>
        <p:spPr>
          <a:xfrm>
            <a:off x="5640353" y="5092980"/>
            <a:ext cx="1332861" cy="39104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Supply</a:t>
            </a:r>
          </a:p>
        </p:txBody>
      </p:sp>
      <p:sp>
        <p:nvSpPr>
          <p:cNvPr id="56" name="Hexagon 55">
            <a:extLst>
              <a:ext uri="{FF2B5EF4-FFF2-40B4-BE49-F238E27FC236}">
                <a16:creationId xmlns:a16="http://schemas.microsoft.com/office/drawing/2014/main" id="{EF29105F-3FD8-56F2-75DF-EA27ABDABD09}"/>
              </a:ext>
            </a:extLst>
          </p:cNvPr>
          <p:cNvSpPr/>
          <p:nvPr/>
        </p:nvSpPr>
        <p:spPr>
          <a:xfrm>
            <a:off x="7981085" y="5092980"/>
            <a:ext cx="1422573" cy="39104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Capacity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574C31A3-AA37-E335-E19D-31587B5B9E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00237" y="4167205"/>
            <a:ext cx="1288799" cy="562748"/>
          </a:xfrm>
          <a:prstGeom prst="bentConnector3">
            <a:avLst>
              <a:gd name="adj1" fmla="val 62464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F050EB09-32E7-202C-287D-9E5B962E8E77}"/>
              </a:ext>
            </a:extLst>
          </p:cNvPr>
          <p:cNvCxnSpPr>
            <a:cxnSpLocks/>
          </p:cNvCxnSpPr>
          <p:nvPr/>
        </p:nvCxnSpPr>
        <p:spPr>
          <a:xfrm rot="5400000">
            <a:off x="6080751" y="4344134"/>
            <a:ext cx="1129332" cy="332739"/>
          </a:xfrm>
          <a:prstGeom prst="bent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08EC0978-99D1-72B3-494B-974ECE64A9D7}"/>
              </a:ext>
            </a:extLst>
          </p:cNvPr>
          <p:cNvCxnSpPr>
            <a:cxnSpLocks/>
          </p:cNvCxnSpPr>
          <p:nvPr/>
        </p:nvCxnSpPr>
        <p:spPr>
          <a:xfrm rot="5400000">
            <a:off x="8294161" y="4516665"/>
            <a:ext cx="847909" cy="304719"/>
          </a:xfrm>
          <a:prstGeom prst="bent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lded Corner 22">
            <a:extLst>
              <a:ext uri="{FF2B5EF4-FFF2-40B4-BE49-F238E27FC236}">
                <a16:creationId xmlns:a16="http://schemas.microsoft.com/office/drawing/2014/main" id="{6EE204D7-B95A-B878-000C-F5CE59B63F81}"/>
              </a:ext>
            </a:extLst>
          </p:cNvPr>
          <p:cNvSpPr/>
          <p:nvPr/>
        </p:nvSpPr>
        <p:spPr>
          <a:xfrm>
            <a:off x="4563496" y="1074742"/>
            <a:ext cx="1288706" cy="36933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DECAA5AE-DD53-74E8-15F0-1CBF56CE5D9C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5021473" y="1630450"/>
            <a:ext cx="514259" cy="141506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A8BAE5-8636-376F-AEB5-146FCCC098CE}"/>
              </a:ext>
            </a:extLst>
          </p:cNvPr>
          <p:cNvSpPr txBox="1"/>
          <p:nvPr/>
        </p:nvSpPr>
        <p:spPr>
          <a:xfrm>
            <a:off x="4563496" y="1044340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support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99BA91A-879C-419C-41D6-EFDE7D87DCDE}"/>
              </a:ext>
            </a:extLst>
          </p:cNvPr>
          <p:cNvCxnSpPr/>
          <p:nvPr/>
        </p:nvCxnSpPr>
        <p:spPr>
          <a:xfrm flipV="1">
            <a:off x="299545" y="1520481"/>
            <a:ext cx="11592910" cy="27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A356410-64BF-7C76-9F17-846514653B6F}"/>
              </a:ext>
            </a:extLst>
          </p:cNvPr>
          <p:cNvCxnSpPr/>
          <p:nvPr/>
        </p:nvCxnSpPr>
        <p:spPr>
          <a:xfrm flipV="1">
            <a:off x="299545" y="4838518"/>
            <a:ext cx="11592910" cy="27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C4B612D-A0E2-A63F-F940-86D6CA5EE284}"/>
              </a:ext>
            </a:extLst>
          </p:cNvPr>
          <p:cNvSpPr txBox="1"/>
          <p:nvPr/>
        </p:nvSpPr>
        <p:spPr>
          <a:xfrm>
            <a:off x="7345494" y="5075170"/>
            <a:ext cx="3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6409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</TotalTime>
  <Words>656</Words>
  <Application>Microsoft Macintosh PowerPoint</Application>
  <PresentationFormat>Widescreen</PresentationFormat>
  <Paragraphs>119</Paragraphs>
  <Slides>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Value Propositions – global supply chain information hub</vt:lpstr>
      <vt:lpstr>PowerPoint Presentation</vt:lpstr>
      <vt:lpstr>PowerPoint Presentation</vt:lpstr>
      <vt:lpstr>PowerPoint Presentation</vt:lpstr>
      <vt:lpstr>Global Supply Chain Information Hub</vt:lpstr>
      <vt:lpstr>Service Offerings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Yannong Huang</dc:creator>
  <cp:lastModifiedBy>Yannong Huang</cp:lastModifiedBy>
  <cp:revision>110</cp:revision>
  <dcterms:created xsi:type="dcterms:W3CDTF">2025-08-08T17:20:56Z</dcterms:created>
  <dcterms:modified xsi:type="dcterms:W3CDTF">2025-10-25T13:24:03Z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239ad0b-fa24-4322-8927-f845569627f5_Enabled">
    <vt:lpwstr>true</vt:lpwstr>
  </property>
  <property fmtid="{D5CDD505-2E9C-101B-9397-08002B2CF9AE}" pid="3" name="MSIP_Label_8239ad0b-fa24-4322-8927-f845569627f5_SetDate">
    <vt:lpwstr>2025-08-08T17:50:40Z</vt:lpwstr>
  </property>
  <property fmtid="{D5CDD505-2E9C-101B-9397-08002B2CF9AE}" pid="4" name="MSIP_Label_8239ad0b-fa24-4322-8927-f845569627f5_Method">
    <vt:lpwstr>Standard</vt:lpwstr>
  </property>
  <property fmtid="{D5CDD505-2E9C-101B-9397-08002B2CF9AE}" pid="5" name="MSIP_Label_8239ad0b-fa24-4322-8927-f845569627f5_Name">
    <vt:lpwstr>Unclassified</vt:lpwstr>
  </property>
  <property fmtid="{D5CDD505-2E9C-101B-9397-08002B2CF9AE}" pid="6" name="MSIP_Label_8239ad0b-fa24-4322-8927-f845569627f5_SiteId">
    <vt:lpwstr>eec4568b-0892-43e7-bae2-8e579ea409d2</vt:lpwstr>
  </property>
  <property fmtid="{D5CDD505-2E9C-101B-9397-08002B2CF9AE}" pid="7" name="MSIP_Label_8239ad0b-fa24-4322-8927-f845569627f5_ActionId">
    <vt:lpwstr>b672988d-cbd5-4550-9321-dd6e9ccf7016</vt:lpwstr>
  </property>
  <property fmtid="{D5CDD505-2E9C-101B-9397-08002B2CF9AE}" pid="8" name="MSIP_Label_8239ad0b-fa24-4322-8927-f845569627f5_ContentBits">
    <vt:lpwstr>0</vt:lpwstr>
  </property>
  <property fmtid="{D5CDD505-2E9C-101B-9397-08002B2CF9AE}" pid="9" name="MSIP_Label_8239ad0b-fa24-4322-8927-f845569627f5_Tag">
    <vt:lpwstr>50, 3, 0, 1</vt:lpwstr>
  </property>
</Properties>
</file>