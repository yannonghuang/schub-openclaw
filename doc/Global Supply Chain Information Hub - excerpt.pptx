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1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800FBA-AC49-2849-BDEC-7B1E86DFA38B}" type="datetimeFigureOut">
              <a:rPr lang="en-US" smtClean="0"/>
              <a:t>8/28/25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1ABA56-C4F8-2043-8278-01E9F67AD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86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1ABA56-C4F8-2043-8278-01E9F67ADAE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968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DB36-8FC0-9FCF-CB13-AAE705D0F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8D691-A30A-E638-A038-3922C62C2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B2FE7-2217-1F58-C94F-6F2D1B5EE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8/28/25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52D34-413E-19FB-9978-93917BA05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A567E-D00C-A761-5712-1D980656B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65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2998D-111A-B5B7-F6F3-7525678A7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9D943-5554-0ADE-126D-7132D11B1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A6CB1-37C2-96E0-561D-12D93455D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8/28/25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B8175-2312-86BC-FE19-402ED6CB4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36C64-B539-1919-716A-FD85E1C2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743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FC2ED-DB58-EDE2-7091-13D0C6B21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F5D10-7AC1-D548-CD58-2153FDFF2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8A491-3F10-1643-7C85-9404B0D5E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8/28/25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9CFBC-D74D-214C-A8D9-0614C376E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F0CAF-3776-C459-5501-19C6F943A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388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CA2EE-7F33-82F2-2EAC-2A23A0788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E9085-A48F-47DE-7F72-DA581AA953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8CB76-9E39-1E56-0EA9-3C07B104E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A77B1-AD63-BC11-7406-0F86B151F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8/28/25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C52A6-ACE5-A5A1-6E16-DBC155865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07364-48B7-ED2A-A6F7-90C284E9D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95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12F8C-818F-1023-A9AB-6AC744D7A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4A30E-29D5-3DE9-E319-DB068A26E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7261F-8C32-D403-13BE-ADB740A1F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0143F-9390-8DA9-BAFF-A5F8DB2EF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9AC672-7D05-7CFF-3968-3DFDB3CD9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EE750B-449E-AC4D-F9B9-15BC0FD28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8/28/25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7CE054-7774-87B4-3D35-4894D6672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0FE8CE-284E-2FE9-9287-22F96AF9B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08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A319-1D35-C384-1C18-058F40622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6F807F-F585-89BE-4C12-ADFBC5948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8/28/25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84C568-792E-8ED2-A5F6-619447BF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A9D50A-BDBB-8351-CBC9-EE787F0DB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282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FF281-7CB7-55FA-E76C-4D2DA34F3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8/28/25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DCC557-0E86-4735-C55C-073B5D6A1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FC31B-7E02-B11E-EA89-C0C02656F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9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365FE-A723-DD31-4C99-ED7018115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D4E15-566A-966C-E0D8-0693A3680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B34C0C-6831-ADD8-5CED-6A2F87929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DFA168-EDEF-AFBD-BBB3-406DFCF9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8/28/25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B99E8-B0A8-2282-C3E2-C766BC5DD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D34AB-63E9-54C8-27C8-2E8AD249D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527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99E61-2E8D-743E-3756-915DC46C8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C5F9AF-ABA2-1783-002E-13263AAF28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AE5ED-BFD7-7ABA-CA83-4D5CFAF11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902A2-D4D5-0863-0DB2-1CFB5F864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8/28/25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A1567-020B-BC7E-848A-4B6FD3AF5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43C0E0-D4DC-DDBE-072D-13339CC17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38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E8045-D857-B343-2F3B-72FB84E1F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C43B5-26FD-1196-4903-EB976F80C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7B689-75BD-ADBB-169D-16EA1F601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8/28/25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E5F8B-EEEC-9C19-9BFE-3838D6FA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FADB0-2893-0096-F65D-9D0B4DF3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29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E8A15F-6FFA-47CA-4185-B2B4C810B0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82C73-DE80-394F-2F36-B10780834B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26F57-0988-A031-8848-80074BFF5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1E6-7D67-744B-A9B5-351F18CCB29F}" type="datetimeFigureOut">
              <a:rPr lang="en-US" smtClean="0"/>
              <a:t>8/28/25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6740D-B5E8-E480-B230-1E841E171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812FF-E4E6-3FEE-3B87-0049D3BC6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04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D3BD49-DE3A-16A6-B564-27337C79C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BBC37-F911-3C34-F0A4-4DBB72E10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AA897-ADBD-678E-B3FE-775C6EAC39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AC01E6-7D67-744B-A9B5-351F18CCB29F}" type="datetimeFigureOut">
              <a:rPr lang="en-US" smtClean="0"/>
              <a:t>8/28/25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64BFD-8277-0521-DB9E-FEA0110D8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FEC05-4FA1-0785-586C-127851E37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0F94EF-3A1D-6D4F-A504-1636D287C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01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E12E8-C326-6AF6-A37F-16EE37805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7B689-C729-504C-642B-97A6B9849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Propositions – global supply chain information 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5C4C6-F33E-8F69-43AD-22495AC07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100" b="1" u="sng" dirty="0"/>
              <a:t>N</a:t>
            </a:r>
            <a:r>
              <a:rPr lang="en-US" dirty="0"/>
              <a:t>eeds: currently most businesses solve supply chain problems (demand planning, manufacturing, sourcing, distribution, logistics, etc.) in isolation with limited or no visibility into global and/or upstream-/down-stream events, while the latter (such as tariffs on demand, port closure on delivery) can have impacts directly or indirectly thru propagation. </a:t>
            </a:r>
          </a:p>
          <a:p>
            <a:r>
              <a:rPr lang="en-US" sz="3100" b="1" u="sng" dirty="0"/>
              <a:t>A</a:t>
            </a:r>
            <a:r>
              <a:rPr lang="en-US" dirty="0"/>
              <a:t>pproach</a:t>
            </a:r>
          </a:p>
          <a:p>
            <a:pPr lvl="1"/>
            <a:r>
              <a:rPr lang="en-US" dirty="0"/>
              <a:t>Pub-Sub architecture accommodating complex many-to-many trading relationships.</a:t>
            </a:r>
          </a:p>
          <a:p>
            <a:pPr lvl="1"/>
            <a:r>
              <a:rPr lang="en-US" dirty="0"/>
              <a:t>LLM-powered intelligence extraction from global, local, partner sources.</a:t>
            </a:r>
          </a:p>
          <a:p>
            <a:pPr lvl="1"/>
            <a:r>
              <a:rPr lang="en-US" dirty="0"/>
              <a:t>Cloud-deployed minimizing local footprint accommodating businesses of any sizes.</a:t>
            </a:r>
          </a:p>
          <a:p>
            <a:pPr lvl="1"/>
            <a:r>
              <a:rPr lang="en-US" dirty="0"/>
              <a:t>Open architecture for further extensibility in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On-boarding new trading partners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Plugging-in new data sources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Adding new tools (e.g., LLM-based causality analyzer)</a:t>
            </a:r>
          </a:p>
          <a:p>
            <a:r>
              <a:rPr lang="en-US" sz="3100" b="1" u="sng" dirty="0"/>
              <a:t>B</a:t>
            </a:r>
            <a:r>
              <a:rPr lang="en-US" dirty="0"/>
              <a:t>enefit: horizontal and vertical visibility ensures supply chain resilience.</a:t>
            </a:r>
          </a:p>
          <a:p>
            <a:r>
              <a:rPr lang="en-US" sz="3100" b="1" u="sng" dirty="0"/>
              <a:t>C</a:t>
            </a:r>
            <a:r>
              <a:rPr lang="en-US" dirty="0"/>
              <a:t>ompetitive analysis: alternative approach suffers in openness due to point-to-point architecture and vendor lock-in.</a:t>
            </a:r>
          </a:p>
        </p:txBody>
      </p:sp>
    </p:spTree>
    <p:extLst>
      <p:ext uri="{BB962C8B-B14F-4D97-AF65-F5344CB8AC3E}">
        <p14:creationId xmlns:p14="http://schemas.microsoft.com/office/powerpoint/2010/main" val="187434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DE9592C4-0B9F-DD3D-4D58-D069967290C5}"/>
              </a:ext>
            </a:extLst>
          </p:cNvPr>
          <p:cNvSpPr/>
          <p:nvPr/>
        </p:nvSpPr>
        <p:spPr>
          <a:xfrm>
            <a:off x="1026084" y="1807779"/>
            <a:ext cx="11060814" cy="34571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A4F3C1-25AA-98A2-40CE-E55332E6A4DA}"/>
              </a:ext>
            </a:extLst>
          </p:cNvPr>
          <p:cNvSpPr/>
          <p:nvPr/>
        </p:nvSpPr>
        <p:spPr>
          <a:xfrm>
            <a:off x="1123816" y="1921805"/>
            <a:ext cx="6110109" cy="203683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D4F3896-1178-FFDF-CFE7-0F813FC7A6E6}"/>
              </a:ext>
            </a:extLst>
          </p:cNvPr>
          <p:cNvSpPr/>
          <p:nvPr/>
        </p:nvSpPr>
        <p:spPr>
          <a:xfrm>
            <a:off x="1171279" y="2016101"/>
            <a:ext cx="5910245" cy="72828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033BE68-6343-9577-A458-3F62EAC10D1F}"/>
              </a:ext>
            </a:extLst>
          </p:cNvPr>
          <p:cNvSpPr/>
          <p:nvPr/>
        </p:nvSpPr>
        <p:spPr>
          <a:xfrm>
            <a:off x="1123816" y="4190765"/>
            <a:ext cx="10888929" cy="91073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28707A-03DD-D8AF-AF54-0A9A0D5B3D78}"/>
              </a:ext>
            </a:extLst>
          </p:cNvPr>
          <p:cNvSpPr txBox="1"/>
          <p:nvPr/>
        </p:nvSpPr>
        <p:spPr>
          <a:xfrm>
            <a:off x="49016" y="1153829"/>
            <a:ext cx="2480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Common Raw Data Ingestion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5F3743-775F-043B-135D-AE95C2695639}"/>
              </a:ext>
            </a:extLst>
          </p:cNvPr>
          <p:cNvSpPr txBox="1"/>
          <p:nvPr/>
        </p:nvSpPr>
        <p:spPr>
          <a:xfrm>
            <a:off x="49016" y="2310422"/>
            <a:ext cx="7523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Parsing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C5048-3C2B-C5C4-392C-8EDB38D13A27}"/>
              </a:ext>
            </a:extLst>
          </p:cNvPr>
          <p:cNvSpPr/>
          <p:nvPr/>
        </p:nvSpPr>
        <p:spPr>
          <a:xfrm>
            <a:off x="2304983" y="2122322"/>
            <a:ext cx="1102154" cy="49924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NLP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E7A81E-8B79-BE8A-E557-F91F86EFF64C}"/>
              </a:ext>
            </a:extLst>
          </p:cNvPr>
          <p:cNvSpPr txBox="1"/>
          <p:nvPr/>
        </p:nvSpPr>
        <p:spPr>
          <a:xfrm>
            <a:off x="1229250" y="2149307"/>
            <a:ext cx="8212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LLM Pipeline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C97BA9-F1FA-C156-D0E5-1FF54C0CA310}"/>
              </a:ext>
            </a:extLst>
          </p:cNvPr>
          <p:cNvSpPr/>
          <p:nvPr/>
        </p:nvSpPr>
        <p:spPr>
          <a:xfrm>
            <a:off x="3661569" y="2118959"/>
            <a:ext cx="1479063" cy="49924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Pattern Recognition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91AC1B-1806-A195-C6F6-B953E1FFBBB3}"/>
              </a:ext>
            </a:extLst>
          </p:cNvPr>
          <p:cNvSpPr/>
          <p:nvPr/>
        </p:nvSpPr>
        <p:spPr>
          <a:xfrm>
            <a:off x="5395064" y="2118958"/>
            <a:ext cx="1562678" cy="49924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Detection Classification</a:t>
            </a:r>
          </a:p>
        </p:txBody>
      </p:sp>
      <p:sp>
        <p:nvSpPr>
          <p:cNvPr id="30" name="Folded Corner 29">
            <a:extLst>
              <a:ext uri="{FF2B5EF4-FFF2-40B4-BE49-F238E27FC236}">
                <a16:creationId xmlns:a16="http://schemas.microsoft.com/office/drawing/2014/main" id="{0129C420-5057-EF96-61CF-7C986D4FC3B9}"/>
              </a:ext>
            </a:extLst>
          </p:cNvPr>
          <p:cNvSpPr/>
          <p:nvPr/>
        </p:nvSpPr>
        <p:spPr>
          <a:xfrm>
            <a:off x="6815072" y="1051758"/>
            <a:ext cx="1455848" cy="417813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97A7158B-0D5C-4AFB-3A85-C26927202253}"/>
              </a:ext>
            </a:extLst>
          </p:cNvPr>
          <p:cNvCxnSpPr>
            <a:cxnSpLocks/>
            <a:stCxn id="29" idx="2"/>
          </p:cNvCxnSpPr>
          <p:nvPr/>
        </p:nvCxnSpPr>
        <p:spPr>
          <a:xfrm rot="16200000" flipH="1">
            <a:off x="6962104" y="2057937"/>
            <a:ext cx="2828256" cy="1679318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6053539-9667-FB41-29FA-70E117C65346}"/>
              </a:ext>
            </a:extLst>
          </p:cNvPr>
          <p:cNvSpPr txBox="1"/>
          <p:nvPr/>
        </p:nvSpPr>
        <p:spPr>
          <a:xfrm>
            <a:off x="6808649" y="1114136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social media</a:t>
            </a:r>
          </a:p>
        </p:txBody>
      </p:sp>
      <p:sp>
        <p:nvSpPr>
          <p:cNvPr id="35" name="Folded Corner 34">
            <a:extLst>
              <a:ext uri="{FF2B5EF4-FFF2-40B4-BE49-F238E27FC236}">
                <a16:creationId xmlns:a16="http://schemas.microsoft.com/office/drawing/2014/main" id="{83811455-37C1-40E5-11E4-9A18A237424F}"/>
              </a:ext>
            </a:extLst>
          </p:cNvPr>
          <p:cNvSpPr/>
          <p:nvPr/>
        </p:nvSpPr>
        <p:spPr>
          <a:xfrm>
            <a:off x="8500056" y="1051127"/>
            <a:ext cx="1455848" cy="417815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05C0EF55-0D8C-D83A-7572-590BAF88F8E3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00439" y="2454257"/>
            <a:ext cx="2832882" cy="891307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FD34E1E-5BA9-8742-C772-F9A9ACB3C976}"/>
              </a:ext>
            </a:extLst>
          </p:cNvPr>
          <p:cNvSpPr txBox="1"/>
          <p:nvPr/>
        </p:nvSpPr>
        <p:spPr>
          <a:xfrm>
            <a:off x="8532830" y="1107172"/>
            <a:ext cx="1374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gov. bulletin</a:t>
            </a:r>
          </a:p>
        </p:txBody>
      </p:sp>
      <p:sp>
        <p:nvSpPr>
          <p:cNvPr id="40" name="Folded Corner 39">
            <a:extLst>
              <a:ext uri="{FF2B5EF4-FFF2-40B4-BE49-F238E27FC236}">
                <a16:creationId xmlns:a16="http://schemas.microsoft.com/office/drawing/2014/main" id="{259A8879-B511-6EFA-8F13-9AB3B67D511E}"/>
              </a:ext>
            </a:extLst>
          </p:cNvPr>
          <p:cNvSpPr/>
          <p:nvPr/>
        </p:nvSpPr>
        <p:spPr>
          <a:xfrm>
            <a:off x="10919387" y="1051127"/>
            <a:ext cx="1093359" cy="417815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09FE5093-F6EA-2380-50C0-1E4FCAF73A19}"/>
              </a:ext>
            </a:extLst>
          </p:cNvPr>
          <p:cNvCxnSpPr>
            <a:cxnSpLocks/>
            <a:stCxn id="39" idx="2"/>
          </p:cNvCxnSpPr>
          <p:nvPr/>
        </p:nvCxnSpPr>
        <p:spPr>
          <a:xfrm rot="5400000">
            <a:off x="10003312" y="2855093"/>
            <a:ext cx="2866707" cy="47181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B316EEF-A44E-B3A4-7341-8FF54F9A1D7B}"/>
              </a:ext>
            </a:extLst>
          </p:cNvPr>
          <p:cNvSpPr txBox="1"/>
          <p:nvPr/>
        </p:nvSpPr>
        <p:spPr>
          <a:xfrm>
            <a:off x="10963709" y="1075998"/>
            <a:ext cx="993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weather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C8E493-F153-4D51-63DD-407022F780CD}"/>
              </a:ext>
            </a:extLst>
          </p:cNvPr>
          <p:cNvSpPr txBox="1"/>
          <p:nvPr/>
        </p:nvSpPr>
        <p:spPr>
          <a:xfrm>
            <a:off x="10362535" y="1077847"/>
            <a:ext cx="301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F3EA4F-4542-1176-D878-DC2A7DB340E9}"/>
              </a:ext>
            </a:extLst>
          </p:cNvPr>
          <p:cNvSpPr txBox="1"/>
          <p:nvPr/>
        </p:nvSpPr>
        <p:spPr>
          <a:xfrm>
            <a:off x="38673" y="3167390"/>
            <a:ext cx="1011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Impacting Events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0636965-316B-B89B-DECF-99B3A0ED45AD}"/>
              </a:ext>
            </a:extLst>
          </p:cNvPr>
          <p:cNvSpPr/>
          <p:nvPr/>
        </p:nvSpPr>
        <p:spPr>
          <a:xfrm>
            <a:off x="1171280" y="2903328"/>
            <a:ext cx="5910245" cy="94637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F56821F-72BA-3F5F-84A0-CD9A23CBB4E6}"/>
              </a:ext>
            </a:extLst>
          </p:cNvPr>
          <p:cNvSpPr txBox="1"/>
          <p:nvPr/>
        </p:nvSpPr>
        <p:spPr>
          <a:xfrm>
            <a:off x="1139872" y="3228100"/>
            <a:ext cx="5108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{Source: Typhon, Location: Shanghai, Impact : raw supply delayed 10 days}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1D3290-4D34-1196-C00B-054C362A580E}"/>
              </a:ext>
            </a:extLst>
          </p:cNvPr>
          <p:cNvSpPr txBox="1"/>
          <p:nvPr/>
        </p:nvSpPr>
        <p:spPr>
          <a:xfrm>
            <a:off x="1139872" y="2954701"/>
            <a:ext cx="44176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{Source: Tariff, Product: TR-S900, Impact: demand slashed 50%}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FB6D909-843C-1BF0-9BE7-4F9A0D8FA6BC}"/>
              </a:ext>
            </a:extLst>
          </p:cNvPr>
          <p:cNvSpPr txBox="1"/>
          <p:nvPr/>
        </p:nvSpPr>
        <p:spPr>
          <a:xfrm>
            <a:off x="1123816" y="3499945"/>
            <a:ext cx="57894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{Source: Supplier, Product: UV-K100, Location: TW, Impact : delivery delayed 20 days}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799AAA-DB4B-1DE9-E0F4-27498E89E5CD}"/>
              </a:ext>
            </a:extLst>
          </p:cNvPr>
          <p:cNvSpPr/>
          <p:nvPr/>
        </p:nvSpPr>
        <p:spPr>
          <a:xfrm>
            <a:off x="3833686" y="4322480"/>
            <a:ext cx="8123116" cy="4571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938353-B573-72B6-5C69-62E75AC1BA57}"/>
              </a:ext>
            </a:extLst>
          </p:cNvPr>
          <p:cNvSpPr txBox="1"/>
          <p:nvPr/>
        </p:nvSpPr>
        <p:spPr>
          <a:xfrm>
            <a:off x="44540" y="4480675"/>
            <a:ext cx="9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Pub-Sub Channels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83AD8F-7D2B-4AC3-6ACB-78DA33A68B70}"/>
              </a:ext>
            </a:extLst>
          </p:cNvPr>
          <p:cNvSpPr txBox="1"/>
          <p:nvPr/>
        </p:nvSpPr>
        <p:spPr>
          <a:xfrm>
            <a:off x="2350676" y="4203676"/>
            <a:ext cx="15395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Common inbound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682741E-CA2E-31E8-D284-F2354B839C5F}"/>
              </a:ext>
            </a:extLst>
          </p:cNvPr>
          <p:cNvSpPr/>
          <p:nvPr/>
        </p:nvSpPr>
        <p:spPr>
          <a:xfrm>
            <a:off x="3829524" y="4589656"/>
            <a:ext cx="8123115" cy="4571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CDD236-026F-6BD9-C1D9-78FFBDE77C9D}"/>
              </a:ext>
            </a:extLst>
          </p:cNvPr>
          <p:cNvSpPr txBox="1"/>
          <p:nvPr/>
        </p:nvSpPr>
        <p:spPr>
          <a:xfrm>
            <a:off x="2246937" y="4468843"/>
            <a:ext cx="15395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Common outbound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34584BC-82A0-B07E-8E6A-8A1E863861A1}"/>
              </a:ext>
            </a:extLst>
          </p:cNvPr>
          <p:cNvCxnSpPr>
            <a:cxnSpLocks/>
          </p:cNvCxnSpPr>
          <p:nvPr/>
        </p:nvCxnSpPr>
        <p:spPr>
          <a:xfrm flipV="1">
            <a:off x="5896305" y="3980448"/>
            <a:ext cx="0" cy="328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89EF3CA0-C6D8-CED5-4A43-2B70F086EFE5}"/>
              </a:ext>
            </a:extLst>
          </p:cNvPr>
          <p:cNvSpPr/>
          <p:nvPr/>
        </p:nvSpPr>
        <p:spPr>
          <a:xfrm>
            <a:off x="3829524" y="4908680"/>
            <a:ext cx="8123115" cy="4571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A557D5-B9D9-A304-F6AD-304E13B9437C}"/>
              </a:ext>
            </a:extLst>
          </p:cNvPr>
          <p:cNvSpPr txBox="1"/>
          <p:nvPr/>
        </p:nvSpPr>
        <p:spPr>
          <a:xfrm>
            <a:off x="1245051" y="4781065"/>
            <a:ext cx="2484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Trading Partner X: demand updates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81C4F4F-5054-ABCF-9861-AE6654AC1151}"/>
              </a:ext>
            </a:extLst>
          </p:cNvPr>
          <p:cNvSpPr/>
          <p:nvPr/>
        </p:nvSpPr>
        <p:spPr>
          <a:xfrm>
            <a:off x="4190087" y="5780153"/>
            <a:ext cx="162009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Trading Partner X</a:t>
            </a:r>
          </a:p>
        </p:txBody>
      </p: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3AE8CCE7-1BA7-193E-8134-8F57CDB4F95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658848" y="5283209"/>
            <a:ext cx="823074" cy="140498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F12DD381-7974-0312-FCB2-ED88F6E76D66}"/>
              </a:ext>
            </a:extLst>
          </p:cNvPr>
          <p:cNvSpPr/>
          <p:nvPr/>
        </p:nvSpPr>
        <p:spPr>
          <a:xfrm>
            <a:off x="6912736" y="5780153"/>
            <a:ext cx="162009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Trading Partner Y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8BEE685F-25F8-F311-2874-36EBC9B636EB}"/>
              </a:ext>
            </a:extLst>
          </p:cNvPr>
          <p:cNvSpPr/>
          <p:nvPr/>
        </p:nvSpPr>
        <p:spPr>
          <a:xfrm>
            <a:off x="9955904" y="5780153"/>
            <a:ext cx="162009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Trading Partner Z</a:t>
            </a:r>
          </a:p>
        </p:txBody>
      </p: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6CA3D1E5-64AB-846E-3CFA-0771DF530DF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43660" y="5085870"/>
            <a:ext cx="793010" cy="565239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B44A70B2-C792-087B-B502-757A209B3AC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170776" y="5169818"/>
            <a:ext cx="814886" cy="375468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3E524AE1-E38B-B831-4B5B-06ED474A0C4F}"/>
              </a:ext>
            </a:extLst>
          </p:cNvPr>
          <p:cNvCxnSpPr>
            <a:cxnSpLocks/>
            <a:endCxn id="59" idx="7"/>
          </p:cNvCxnSpPr>
          <p:nvPr/>
        </p:nvCxnSpPr>
        <p:spPr>
          <a:xfrm rot="16200000" flipH="1">
            <a:off x="4888528" y="5229668"/>
            <a:ext cx="1247224" cy="121568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A9DC8231-0801-7733-2340-8CD58C6601C2}"/>
              </a:ext>
            </a:extLst>
          </p:cNvPr>
          <p:cNvCxnSpPr>
            <a:cxnSpLocks/>
          </p:cNvCxnSpPr>
          <p:nvPr/>
        </p:nvCxnSpPr>
        <p:spPr>
          <a:xfrm rot="16200000" flipH="1">
            <a:off x="7426646" y="5115216"/>
            <a:ext cx="1210427" cy="250748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1FC1A5D1-930C-D7E6-D3E2-7593E7CE2DA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435329" y="5098215"/>
            <a:ext cx="1210427" cy="250748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DCB64900-46E9-288A-936A-807A4D708199}"/>
              </a:ext>
            </a:extLst>
          </p:cNvPr>
          <p:cNvSpPr txBox="1"/>
          <p:nvPr/>
        </p:nvSpPr>
        <p:spPr>
          <a:xfrm>
            <a:off x="4081228" y="137358"/>
            <a:ext cx="5391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Global Supply Chain Information Hub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772919D-B446-CBB2-3837-C4F1FF0DF9ED}"/>
              </a:ext>
            </a:extLst>
          </p:cNvPr>
          <p:cNvCxnSpPr>
            <a:cxnSpLocks/>
          </p:cNvCxnSpPr>
          <p:nvPr/>
        </p:nvCxnSpPr>
        <p:spPr>
          <a:xfrm>
            <a:off x="6353710" y="3980448"/>
            <a:ext cx="0" cy="586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6280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56D6B-66E0-3C65-A447-A3F8E53D0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EE3E7C3-A862-AC7C-668A-DC7E378ADEE5}"/>
              </a:ext>
            </a:extLst>
          </p:cNvPr>
          <p:cNvSpPr/>
          <p:nvPr/>
        </p:nvSpPr>
        <p:spPr>
          <a:xfrm>
            <a:off x="1722325" y="1486527"/>
            <a:ext cx="3044116" cy="6167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4CC08C-18D1-479F-4372-87D0FD533A06}"/>
              </a:ext>
            </a:extLst>
          </p:cNvPr>
          <p:cNvSpPr/>
          <p:nvPr/>
        </p:nvSpPr>
        <p:spPr>
          <a:xfrm>
            <a:off x="2759288" y="4179701"/>
            <a:ext cx="7993397" cy="222854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1F084A-FE08-D304-F32A-7964B88F3771}"/>
              </a:ext>
            </a:extLst>
          </p:cNvPr>
          <p:cNvSpPr txBox="1"/>
          <p:nvPr/>
        </p:nvSpPr>
        <p:spPr>
          <a:xfrm>
            <a:off x="130760" y="1635269"/>
            <a:ext cx="85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A55B99-E0BE-ADDB-62DE-88A5A20ED288}"/>
              </a:ext>
            </a:extLst>
          </p:cNvPr>
          <p:cNvSpPr txBox="1"/>
          <p:nvPr/>
        </p:nvSpPr>
        <p:spPr>
          <a:xfrm>
            <a:off x="176062" y="4853399"/>
            <a:ext cx="2614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LLM-Orchestrated Agent</a:t>
            </a:r>
          </a:p>
        </p:txBody>
      </p:sp>
      <p:sp>
        <p:nvSpPr>
          <p:cNvPr id="6" name="Folded Corner 5">
            <a:extLst>
              <a:ext uri="{FF2B5EF4-FFF2-40B4-BE49-F238E27FC236}">
                <a16:creationId xmlns:a16="http://schemas.microsoft.com/office/drawing/2014/main" id="{2B3EBE8D-1EF1-C31A-168C-4DC3BA5C43F6}"/>
              </a:ext>
            </a:extLst>
          </p:cNvPr>
          <p:cNvSpPr/>
          <p:nvPr/>
        </p:nvSpPr>
        <p:spPr>
          <a:xfrm>
            <a:off x="1835895" y="1654917"/>
            <a:ext cx="1288706" cy="369332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20A947-B0A9-5ECF-8907-9377C8628BA8}"/>
              </a:ext>
            </a:extLst>
          </p:cNvPr>
          <p:cNvSpPr txBox="1"/>
          <p:nvPr/>
        </p:nvSpPr>
        <p:spPr>
          <a:xfrm>
            <a:off x="1856763" y="1613516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shop floor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423B0EA-F326-1811-A1E2-7D80EEA6F41B}"/>
              </a:ext>
            </a:extLst>
          </p:cNvPr>
          <p:cNvCxnSpPr>
            <a:cxnSpLocks/>
          </p:cNvCxnSpPr>
          <p:nvPr/>
        </p:nvCxnSpPr>
        <p:spPr>
          <a:xfrm>
            <a:off x="3034128" y="3450278"/>
            <a:ext cx="0" cy="729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1CF7B123-EF1F-066E-237A-F3E027281B21}"/>
              </a:ext>
            </a:extLst>
          </p:cNvPr>
          <p:cNvSpPr/>
          <p:nvPr/>
        </p:nvSpPr>
        <p:spPr>
          <a:xfrm>
            <a:off x="8660431" y="2749880"/>
            <a:ext cx="2175642" cy="65785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SCP Solver</a:t>
            </a:r>
          </a:p>
        </p:txBody>
      </p:sp>
      <p:sp>
        <p:nvSpPr>
          <p:cNvPr id="23" name="Folded Corner 22">
            <a:extLst>
              <a:ext uri="{FF2B5EF4-FFF2-40B4-BE49-F238E27FC236}">
                <a16:creationId xmlns:a16="http://schemas.microsoft.com/office/drawing/2014/main" id="{AFB39376-EC6F-F410-E546-44B7AD8156F7}"/>
              </a:ext>
            </a:extLst>
          </p:cNvPr>
          <p:cNvSpPr/>
          <p:nvPr/>
        </p:nvSpPr>
        <p:spPr>
          <a:xfrm>
            <a:off x="3339041" y="1657512"/>
            <a:ext cx="1288706" cy="369332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A0705263-8324-18CD-6F87-D5C878E81778}"/>
              </a:ext>
            </a:extLst>
          </p:cNvPr>
          <p:cNvCxnSpPr>
            <a:cxnSpLocks/>
            <a:endCxn id="22" idx="0"/>
          </p:cNvCxnSpPr>
          <p:nvPr/>
        </p:nvCxnSpPr>
        <p:spPr>
          <a:xfrm rot="16200000" flipH="1">
            <a:off x="2800050" y="2344902"/>
            <a:ext cx="646630" cy="163325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CB06658-D823-1DDC-5315-21012307CB0E}"/>
              </a:ext>
            </a:extLst>
          </p:cNvPr>
          <p:cNvSpPr txBox="1"/>
          <p:nvPr/>
        </p:nvSpPr>
        <p:spPr>
          <a:xfrm>
            <a:off x="3339041" y="1627110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support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E0C60B-7712-AA48-7E95-4CF9249CC89D}"/>
              </a:ext>
            </a:extLst>
          </p:cNvPr>
          <p:cNvSpPr/>
          <p:nvPr/>
        </p:nvSpPr>
        <p:spPr>
          <a:xfrm>
            <a:off x="5175550" y="1613516"/>
            <a:ext cx="6764716" cy="3554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Global Supply Chain Information Hub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65E46AD-B1EA-7A69-CBD2-498901A7BDE0}"/>
              </a:ext>
            </a:extLst>
          </p:cNvPr>
          <p:cNvGrpSpPr/>
          <p:nvPr/>
        </p:nvGrpSpPr>
        <p:grpSpPr>
          <a:xfrm>
            <a:off x="2929115" y="4582907"/>
            <a:ext cx="988908" cy="399920"/>
            <a:chOff x="10867697" y="5725970"/>
            <a:chExt cx="988908" cy="39992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EF8073F-79B4-AD65-D401-5F4E475FDAE1}"/>
                </a:ext>
              </a:extLst>
            </p:cNvPr>
            <p:cNvSpPr/>
            <p:nvPr/>
          </p:nvSpPr>
          <p:spPr>
            <a:xfrm>
              <a:off x="10867697" y="5725970"/>
              <a:ext cx="988908" cy="3999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AB415FB-3A70-C548-C227-C22F29B39269}"/>
                </a:ext>
              </a:extLst>
            </p:cNvPr>
            <p:cNvGrpSpPr/>
            <p:nvPr/>
          </p:nvGrpSpPr>
          <p:grpSpPr>
            <a:xfrm>
              <a:off x="10972710" y="5842383"/>
              <a:ext cx="807998" cy="145194"/>
              <a:chOff x="9995344" y="5914980"/>
              <a:chExt cx="807998" cy="145194"/>
            </a:xfrm>
          </p:grpSpPr>
          <p:sp>
            <p:nvSpPr>
              <p:cNvPr id="3" name="Pentagon 2">
                <a:extLst>
                  <a:ext uri="{FF2B5EF4-FFF2-40B4-BE49-F238E27FC236}">
                    <a16:creationId xmlns:a16="http://schemas.microsoft.com/office/drawing/2014/main" id="{11756A23-9818-F432-E513-3AF3BAF60D6D}"/>
                  </a:ext>
                </a:extLst>
              </p:cNvPr>
              <p:cNvSpPr/>
              <p:nvPr/>
            </p:nvSpPr>
            <p:spPr>
              <a:xfrm>
                <a:off x="9995344" y="5923716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Pentagon 6">
                <a:extLst>
                  <a:ext uri="{FF2B5EF4-FFF2-40B4-BE49-F238E27FC236}">
                    <a16:creationId xmlns:a16="http://schemas.microsoft.com/office/drawing/2014/main" id="{43F8B123-1D60-8948-C7A1-6485ED1A1DA9}"/>
                  </a:ext>
                </a:extLst>
              </p:cNvPr>
              <p:cNvSpPr/>
              <p:nvPr/>
            </p:nvSpPr>
            <p:spPr>
              <a:xfrm>
                <a:off x="10311684" y="5914980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Pentagon 8">
                <a:extLst>
                  <a:ext uri="{FF2B5EF4-FFF2-40B4-BE49-F238E27FC236}">
                    <a16:creationId xmlns:a16="http://schemas.microsoft.com/office/drawing/2014/main" id="{D808B884-5186-5D5C-535A-7B91264D24D1}"/>
                  </a:ext>
                </a:extLst>
              </p:cNvPr>
              <p:cNvSpPr/>
              <p:nvPr/>
            </p:nvSpPr>
            <p:spPr>
              <a:xfrm>
                <a:off x="10582631" y="5914980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ular Callout 21">
            <a:extLst>
              <a:ext uri="{FF2B5EF4-FFF2-40B4-BE49-F238E27FC236}">
                <a16:creationId xmlns:a16="http://schemas.microsoft.com/office/drawing/2014/main" id="{54DB04EB-6E21-DEE2-8721-8A6923B8787D}"/>
              </a:ext>
            </a:extLst>
          </p:cNvPr>
          <p:cNvSpPr/>
          <p:nvPr/>
        </p:nvSpPr>
        <p:spPr>
          <a:xfrm>
            <a:off x="2747828" y="2749880"/>
            <a:ext cx="914400" cy="612648"/>
          </a:xfrm>
          <a:prstGeom prst="wedgeRectCallou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 Events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D8F3B1-F59F-CDAB-B97D-D6EBA275E54D}"/>
              </a:ext>
            </a:extLst>
          </p:cNvPr>
          <p:cNvSpPr txBox="1"/>
          <p:nvPr/>
        </p:nvSpPr>
        <p:spPr>
          <a:xfrm>
            <a:off x="176062" y="2993196"/>
            <a:ext cx="701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Tools</a:t>
            </a:r>
          </a:p>
        </p:txBody>
      </p:sp>
      <p:sp>
        <p:nvSpPr>
          <p:cNvPr id="32" name="Rectangular Callout 31">
            <a:extLst>
              <a:ext uri="{FF2B5EF4-FFF2-40B4-BE49-F238E27FC236}">
                <a16:creationId xmlns:a16="http://schemas.microsoft.com/office/drawing/2014/main" id="{6125233C-1EF8-D860-879F-CDD2AC0E9112}"/>
              </a:ext>
            </a:extLst>
          </p:cNvPr>
          <p:cNvSpPr/>
          <p:nvPr/>
        </p:nvSpPr>
        <p:spPr>
          <a:xfrm>
            <a:off x="4314144" y="2772482"/>
            <a:ext cx="914400" cy="612648"/>
          </a:xfrm>
          <a:prstGeom prst="wedgeRectCallou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Global Events</a:t>
            </a: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56BDE3BD-A16B-E75F-12A3-842EB5D5998F}"/>
              </a:ext>
            </a:extLst>
          </p:cNvPr>
          <p:cNvCxnSpPr>
            <a:cxnSpLocks/>
            <a:stCxn id="2" idx="2"/>
            <a:endCxn id="32" idx="0"/>
          </p:cNvCxnSpPr>
          <p:nvPr/>
        </p:nvCxnSpPr>
        <p:spPr>
          <a:xfrm rot="5400000">
            <a:off x="6262852" y="477426"/>
            <a:ext cx="803548" cy="3786564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A82DF21-3B98-5A52-45BB-8F1D67F5C6D0}"/>
              </a:ext>
            </a:extLst>
          </p:cNvPr>
          <p:cNvGrpSpPr/>
          <p:nvPr/>
        </p:nvGrpSpPr>
        <p:grpSpPr>
          <a:xfrm>
            <a:off x="11113925" y="2752649"/>
            <a:ext cx="826341" cy="676362"/>
            <a:chOff x="9316141" y="2786108"/>
            <a:chExt cx="826341" cy="676362"/>
          </a:xfrm>
        </p:grpSpPr>
        <p:sp>
          <p:nvSpPr>
            <p:cNvPr id="43" name="Double Brace 42">
              <a:extLst>
                <a:ext uri="{FF2B5EF4-FFF2-40B4-BE49-F238E27FC236}">
                  <a16:creationId xmlns:a16="http://schemas.microsoft.com/office/drawing/2014/main" id="{8C2608DF-C3F6-FBB8-5A69-7CA0976AFF10}"/>
                </a:ext>
              </a:extLst>
            </p:cNvPr>
            <p:cNvSpPr/>
            <p:nvPr/>
          </p:nvSpPr>
          <p:spPr>
            <a:xfrm>
              <a:off x="9316141" y="2786108"/>
              <a:ext cx="826341" cy="676362"/>
            </a:xfrm>
            <a:prstGeom prst="bracePair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94E799B-0B85-EB03-F76F-3774F9DBAA13}"/>
                </a:ext>
              </a:extLst>
            </p:cNvPr>
            <p:cNvSpPr txBox="1"/>
            <p:nvPr/>
          </p:nvSpPr>
          <p:spPr>
            <a:xfrm>
              <a:off x="9316141" y="2816139"/>
              <a:ext cx="8263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Demand</a:t>
              </a:r>
            </a:p>
            <a:p>
              <a:r>
                <a:rPr lang="en-US" sz="1200" dirty="0"/>
                <a:t>Supply</a:t>
              </a:r>
            </a:p>
            <a:p>
              <a:r>
                <a:rPr lang="en-US" sz="1200" dirty="0"/>
                <a:t>Capacity</a:t>
              </a:r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ED94488-CF16-2F67-3432-5378B2B9A2CE}"/>
              </a:ext>
            </a:extLst>
          </p:cNvPr>
          <p:cNvCxnSpPr>
            <a:cxnSpLocks/>
          </p:cNvCxnSpPr>
          <p:nvPr/>
        </p:nvCxnSpPr>
        <p:spPr>
          <a:xfrm>
            <a:off x="4618473" y="3450278"/>
            <a:ext cx="0" cy="729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E3ADBBA-12E5-AFDE-818F-289ADC04FDFB}"/>
              </a:ext>
            </a:extLst>
          </p:cNvPr>
          <p:cNvCxnSpPr>
            <a:cxnSpLocks/>
            <a:endCxn id="53" idx="2"/>
          </p:cNvCxnSpPr>
          <p:nvPr/>
        </p:nvCxnSpPr>
        <p:spPr>
          <a:xfrm flipV="1">
            <a:off x="9748252" y="3407733"/>
            <a:ext cx="0" cy="7507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90BC6E8-0F9F-628F-0E04-7E7319C6C83E}"/>
              </a:ext>
            </a:extLst>
          </p:cNvPr>
          <p:cNvGrpSpPr/>
          <p:nvPr/>
        </p:nvGrpSpPr>
        <p:grpSpPr>
          <a:xfrm>
            <a:off x="4536244" y="5022771"/>
            <a:ext cx="988908" cy="399920"/>
            <a:chOff x="10867697" y="5725970"/>
            <a:chExt cx="988908" cy="399920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0C8CA9D-886B-0835-90FB-A8A759609072}"/>
                </a:ext>
              </a:extLst>
            </p:cNvPr>
            <p:cNvSpPr/>
            <p:nvPr/>
          </p:nvSpPr>
          <p:spPr>
            <a:xfrm>
              <a:off x="10867697" y="5725970"/>
              <a:ext cx="988908" cy="3999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CF508B16-F343-B040-197B-885E93415171}"/>
                </a:ext>
              </a:extLst>
            </p:cNvPr>
            <p:cNvGrpSpPr/>
            <p:nvPr/>
          </p:nvGrpSpPr>
          <p:grpSpPr>
            <a:xfrm>
              <a:off x="10972710" y="5842383"/>
              <a:ext cx="807998" cy="145194"/>
              <a:chOff x="9995344" y="5914980"/>
              <a:chExt cx="807998" cy="145194"/>
            </a:xfrm>
          </p:grpSpPr>
          <p:sp>
            <p:nvSpPr>
              <p:cNvPr id="72" name="Pentagon 71">
                <a:extLst>
                  <a:ext uri="{FF2B5EF4-FFF2-40B4-BE49-F238E27FC236}">
                    <a16:creationId xmlns:a16="http://schemas.microsoft.com/office/drawing/2014/main" id="{2042499C-DF7F-A280-6368-2DAB6CE7F69C}"/>
                  </a:ext>
                </a:extLst>
              </p:cNvPr>
              <p:cNvSpPr/>
              <p:nvPr/>
            </p:nvSpPr>
            <p:spPr>
              <a:xfrm>
                <a:off x="9995344" y="5923716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Pentagon 72">
                <a:extLst>
                  <a:ext uri="{FF2B5EF4-FFF2-40B4-BE49-F238E27FC236}">
                    <a16:creationId xmlns:a16="http://schemas.microsoft.com/office/drawing/2014/main" id="{89D5AFEF-70AB-9D4B-56A2-76101D6DCCE9}"/>
                  </a:ext>
                </a:extLst>
              </p:cNvPr>
              <p:cNvSpPr/>
              <p:nvPr/>
            </p:nvSpPr>
            <p:spPr>
              <a:xfrm>
                <a:off x="10311684" y="5914980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Pentagon 73">
                <a:extLst>
                  <a:ext uri="{FF2B5EF4-FFF2-40B4-BE49-F238E27FC236}">
                    <a16:creationId xmlns:a16="http://schemas.microsoft.com/office/drawing/2014/main" id="{4116D8C1-2096-FF84-8337-9DB271E59F27}"/>
                  </a:ext>
                </a:extLst>
              </p:cNvPr>
              <p:cNvSpPr/>
              <p:nvPr/>
            </p:nvSpPr>
            <p:spPr>
              <a:xfrm>
                <a:off x="10582631" y="5914980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08A148E-8510-05D4-0687-3AC35FE776D1}"/>
              </a:ext>
            </a:extLst>
          </p:cNvPr>
          <p:cNvGrpSpPr/>
          <p:nvPr/>
        </p:nvGrpSpPr>
        <p:grpSpPr>
          <a:xfrm>
            <a:off x="6162239" y="5479684"/>
            <a:ext cx="988908" cy="399920"/>
            <a:chOff x="10867697" y="5725970"/>
            <a:chExt cx="988908" cy="39992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07D76120-E915-57D4-B07E-89A84BEB5C05}"/>
                </a:ext>
              </a:extLst>
            </p:cNvPr>
            <p:cNvSpPr/>
            <p:nvPr/>
          </p:nvSpPr>
          <p:spPr>
            <a:xfrm>
              <a:off x="10867697" y="5725970"/>
              <a:ext cx="988908" cy="3999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82B2C37A-2B7A-9E36-A373-7A0D1D798077}"/>
                </a:ext>
              </a:extLst>
            </p:cNvPr>
            <p:cNvGrpSpPr/>
            <p:nvPr/>
          </p:nvGrpSpPr>
          <p:grpSpPr>
            <a:xfrm>
              <a:off x="10972710" y="5842383"/>
              <a:ext cx="807998" cy="145194"/>
              <a:chOff x="9995344" y="5914980"/>
              <a:chExt cx="807998" cy="145194"/>
            </a:xfrm>
          </p:grpSpPr>
          <p:sp>
            <p:nvSpPr>
              <p:cNvPr id="79" name="Pentagon 78">
                <a:extLst>
                  <a:ext uri="{FF2B5EF4-FFF2-40B4-BE49-F238E27FC236}">
                    <a16:creationId xmlns:a16="http://schemas.microsoft.com/office/drawing/2014/main" id="{40982C91-175E-973C-E8FD-01A18401B9E1}"/>
                  </a:ext>
                </a:extLst>
              </p:cNvPr>
              <p:cNvSpPr/>
              <p:nvPr/>
            </p:nvSpPr>
            <p:spPr>
              <a:xfrm>
                <a:off x="9995344" y="5923716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Pentagon 79">
                <a:extLst>
                  <a:ext uri="{FF2B5EF4-FFF2-40B4-BE49-F238E27FC236}">
                    <a16:creationId xmlns:a16="http://schemas.microsoft.com/office/drawing/2014/main" id="{A29575E9-5DC6-5D7F-FBC6-6F118CD073D8}"/>
                  </a:ext>
                </a:extLst>
              </p:cNvPr>
              <p:cNvSpPr/>
              <p:nvPr/>
            </p:nvSpPr>
            <p:spPr>
              <a:xfrm>
                <a:off x="10311684" y="5914980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Pentagon 80">
                <a:extLst>
                  <a:ext uri="{FF2B5EF4-FFF2-40B4-BE49-F238E27FC236}">
                    <a16:creationId xmlns:a16="http://schemas.microsoft.com/office/drawing/2014/main" id="{4CA5005C-4F09-5E96-0035-4726697E4AD2}"/>
                  </a:ext>
                </a:extLst>
              </p:cNvPr>
              <p:cNvSpPr/>
              <p:nvPr/>
            </p:nvSpPr>
            <p:spPr>
              <a:xfrm>
                <a:off x="10582631" y="5914980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16377D63-34CE-F881-A8EB-0EF6E4B7A7BE}"/>
              </a:ext>
            </a:extLst>
          </p:cNvPr>
          <p:cNvSpPr txBox="1"/>
          <p:nvPr/>
        </p:nvSpPr>
        <p:spPr>
          <a:xfrm>
            <a:off x="8993482" y="4273017"/>
            <a:ext cx="1230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Workflows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60A01B9-4B1D-BB7B-256B-4A97F7E00C96}"/>
              </a:ext>
            </a:extLst>
          </p:cNvPr>
          <p:cNvCxnSpPr>
            <a:cxnSpLocks/>
            <a:stCxn id="53" idx="3"/>
            <a:endCxn id="45" idx="1"/>
          </p:cNvCxnSpPr>
          <p:nvPr/>
        </p:nvCxnSpPr>
        <p:spPr>
          <a:xfrm>
            <a:off x="10836073" y="3078807"/>
            <a:ext cx="277852" cy="270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B67D5A40-EBA1-A687-0887-DB562B65FE32}"/>
              </a:ext>
            </a:extLst>
          </p:cNvPr>
          <p:cNvSpPr txBox="1"/>
          <p:nvPr/>
        </p:nvSpPr>
        <p:spPr>
          <a:xfrm>
            <a:off x="4638158" y="284768"/>
            <a:ext cx="3766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Local LLM-Powered Agent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C35C699-CE73-0EF0-8783-29CE2035BFBC}"/>
              </a:ext>
            </a:extLst>
          </p:cNvPr>
          <p:cNvGrpSpPr/>
          <p:nvPr/>
        </p:nvGrpSpPr>
        <p:grpSpPr>
          <a:xfrm>
            <a:off x="8066222" y="5884452"/>
            <a:ext cx="988908" cy="399920"/>
            <a:chOff x="10867697" y="5725970"/>
            <a:chExt cx="988908" cy="399920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94137776-D1A0-5586-6501-AED3104E68F8}"/>
                </a:ext>
              </a:extLst>
            </p:cNvPr>
            <p:cNvSpPr/>
            <p:nvPr/>
          </p:nvSpPr>
          <p:spPr>
            <a:xfrm>
              <a:off x="10867697" y="5725970"/>
              <a:ext cx="988908" cy="3999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EAF19487-6B54-AB01-97AA-B4CB201BEBCE}"/>
                </a:ext>
              </a:extLst>
            </p:cNvPr>
            <p:cNvGrpSpPr/>
            <p:nvPr/>
          </p:nvGrpSpPr>
          <p:grpSpPr>
            <a:xfrm>
              <a:off x="10972710" y="5842383"/>
              <a:ext cx="807998" cy="145194"/>
              <a:chOff x="9995344" y="5914980"/>
              <a:chExt cx="807998" cy="145194"/>
            </a:xfrm>
          </p:grpSpPr>
          <p:sp>
            <p:nvSpPr>
              <p:cNvPr id="97" name="Pentagon 96">
                <a:extLst>
                  <a:ext uri="{FF2B5EF4-FFF2-40B4-BE49-F238E27FC236}">
                    <a16:creationId xmlns:a16="http://schemas.microsoft.com/office/drawing/2014/main" id="{F68D0716-9A61-1FEF-217B-423143E4C034}"/>
                  </a:ext>
                </a:extLst>
              </p:cNvPr>
              <p:cNvSpPr/>
              <p:nvPr/>
            </p:nvSpPr>
            <p:spPr>
              <a:xfrm>
                <a:off x="9995344" y="5923716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Pentagon 97">
                <a:extLst>
                  <a:ext uri="{FF2B5EF4-FFF2-40B4-BE49-F238E27FC236}">
                    <a16:creationId xmlns:a16="http://schemas.microsoft.com/office/drawing/2014/main" id="{30B84120-DB04-DA17-5927-9BDDAB16A537}"/>
                  </a:ext>
                </a:extLst>
              </p:cNvPr>
              <p:cNvSpPr/>
              <p:nvPr/>
            </p:nvSpPr>
            <p:spPr>
              <a:xfrm>
                <a:off x="10311684" y="5914980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Pentagon 98">
                <a:extLst>
                  <a:ext uri="{FF2B5EF4-FFF2-40B4-BE49-F238E27FC236}">
                    <a16:creationId xmlns:a16="http://schemas.microsoft.com/office/drawing/2014/main" id="{8B57D04D-07F3-5BFB-4B54-558EE24934DD}"/>
                  </a:ext>
                </a:extLst>
              </p:cNvPr>
              <p:cNvSpPr/>
              <p:nvPr/>
            </p:nvSpPr>
            <p:spPr>
              <a:xfrm>
                <a:off x="10582631" y="5914980"/>
                <a:ext cx="220711" cy="136458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E2AC82A5-25CF-487D-B4BD-85CC425C5971}"/>
              </a:ext>
            </a:extLst>
          </p:cNvPr>
          <p:cNvSpPr txBox="1"/>
          <p:nvPr/>
        </p:nvSpPr>
        <p:spPr>
          <a:xfrm>
            <a:off x="3857545" y="4635434"/>
            <a:ext cx="123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Local events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136AF92-F52E-3AF8-27BE-6116E4B206E5}"/>
              </a:ext>
            </a:extLst>
          </p:cNvPr>
          <p:cNvSpPr txBox="1"/>
          <p:nvPr/>
        </p:nvSpPr>
        <p:spPr>
          <a:xfrm>
            <a:off x="5445716" y="5002198"/>
            <a:ext cx="1297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Global events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A7B5630-DDF9-6163-B1E8-45BC0F9D3C8D}"/>
              </a:ext>
            </a:extLst>
          </p:cNvPr>
          <p:cNvSpPr txBox="1"/>
          <p:nvPr/>
        </p:nvSpPr>
        <p:spPr>
          <a:xfrm>
            <a:off x="7093955" y="5497108"/>
            <a:ext cx="14419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LLM Reasoning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AE32CEF-90AB-9048-0AAB-F933453C60C6}"/>
              </a:ext>
            </a:extLst>
          </p:cNvPr>
          <p:cNvSpPr txBox="1"/>
          <p:nvPr/>
        </p:nvSpPr>
        <p:spPr>
          <a:xfrm>
            <a:off x="9012216" y="5846976"/>
            <a:ext cx="19500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SCP Solve with adjusted parameters</a:t>
            </a:r>
          </a:p>
        </p:txBody>
      </p:sp>
      <p:sp>
        <p:nvSpPr>
          <p:cNvPr id="12" name="Rectangular Callout 11">
            <a:extLst>
              <a:ext uri="{FF2B5EF4-FFF2-40B4-BE49-F238E27FC236}">
                <a16:creationId xmlns:a16="http://schemas.microsoft.com/office/drawing/2014/main" id="{4814D6FD-5567-AC21-04C8-A052AD0361BC}"/>
              </a:ext>
            </a:extLst>
          </p:cNvPr>
          <p:cNvSpPr/>
          <p:nvPr/>
        </p:nvSpPr>
        <p:spPr>
          <a:xfrm>
            <a:off x="5685744" y="2745303"/>
            <a:ext cx="2380478" cy="612648"/>
          </a:xfrm>
          <a:prstGeom prst="wedgeRectCallou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LLM-based causality analyzer </a:t>
            </a:r>
            <a:r>
              <a:rPr lang="en-US" sz="1200" dirty="0"/>
              <a:t>(e.g., tariff vs demand, port closed vs delivery delay)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144DD1-A324-BF85-EFEE-F46260A69469}"/>
              </a:ext>
            </a:extLst>
          </p:cNvPr>
          <p:cNvCxnSpPr>
            <a:cxnSpLocks/>
          </p:cNvCxnSpPr>
          <p:nvPr/>
        </p:nvCxnSpPr>
        <p:spPr>
          <a:xfrm>
            <a:off x="6382036" y="3450278"/>
            <a:ext cx="0" cy="729423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225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1649</TotalTime>
  <Words>309</Words>
  <Application>Microsoft Macintosh PowerPoint</Application>
  <PresentationFormat>Widescreen</PresentationFormat>
  <Paragraphs>54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Courier New</vt:lpstr>
      <vt:lpstr>Office Theme</vt:lpstr>
      <vt:lpstr>Value Propositions – global supply chain information hub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Yannong Huang</dc:creator>
  <cp:lastModifiedBy>Yannong Huang</cp:lastModifiedBy>
  <cp:revision>89</cp:revision>
  <dcterms:created xsi:type="dcterms:W3CDTF">2025-08-08T17:20:56Z</dcterms:created>
  <dcterms:modified xsi:type="dcterms:W3CDTF">2025-08-29T05:24:31Z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239ad0b-fa24-4322-8927-f845569627f5_Enabled">
    <vt:lpwstr>true</vt:lpwstr>
  </property>
  <property fmtid="{D5CDD505-2E9C-101B-9397-08002B2CF9AE}" pid="3" name="MSIP_Label_8239ad0b-fa24-4322-8927-f845569627f5_SetDate">
    <vt:lpwstr>2025-08-08T17:50:40Z</vt:lpwstr>
  </property>
  <property fmtid="{D5CDD505-2E9C-101B-9397-08002B2CF9AE}" pid="4" name="MSIP_Label_8239ad0b-fa24-4322-8927-f845569627f5_Method">
    <vt:lpwstr>Standard</vt:lpwstr>
  </property>
  <property fmtid="{D5CDD505-2E9C-101B-9397-08002B2CF9AE}" pid="5" name="MSIP_Label_8239ad0b-fa24-4322-8927-f845569627f5_Name">
    <vt:lpwstr>Unclassified</vt:lpwstr>
  </property>
  <property fmtid="{D5CDD505-2E9C-101B-9397-08002B2CF9AE}" pid="6" name="MSIP_Label_8239ad0b-fa24-4322-8927-f845569627f5_SiteId">
    <vt:lpwstr>eec4568b-0892-43e7-bae2-8e579ea409d2</vt:lpwstr>
  </property>
  <property fmtid="{D5CDD505-2E9C-101B-9397-08002B2CF9AE}" pid="7" name="MSIP_Label_8239ad0b-fa24-4322-8927-f845569627f5_ActionId">
    <vt:lpwstr>b672988d-cbd5-4550-9321-dd6e9ccf7016</vt:lpwstr>
  </property>
  <property fmtid="{D5CDD505-2E9C-101B-9397-08002B2CF9AE}" pid="8" name="MSIP_Label_8239ad0b-fa24-4322-8927-f845569627f5_ContentBits">
    <vt:lpwstr>0</vt:lpwstr>
  </property>
  <property fmtid="{D5CDD505-2E9C-101B-9397-08002B2CF9AE}" pid="9" name="MSIP_Label_8239ad0b-fa24-4322-8927-f845569627f5_Tag">
    <vt:lpwstr>50, 3, 0, 1</vt:lpwstr>
  </property>
</Properties>
</file>